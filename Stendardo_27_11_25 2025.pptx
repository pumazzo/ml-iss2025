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notesMasterIdLst>
    <p:notesMasterId r:id="rId20"/>
  </p:notesMasterIdLst>
  <p:sldIdLst>
    <p:sldId id="256" r:id="rId3"/>
    <p:sldId id="281" r:id="rId4"/>
    <p:sldId id="282" r:id="rId5"/>
    <p:sldId id="275" r:id="rId6"/>
    <p:sldId id="288" r:id="rId7"/>
    <p:sldId id="285" r:id="rId8"/>
    <p:sldId id="293" r:id="rId9"/>
    <p:sldId id="294" r:id="rId10"/>
    <p:sldId id="258" r:id="rId11"/>
    <p:sldId id="295" r:id="rId12"/>
    <p:sldId id="296" r:id="rId13"/>
    <p:sldId id="276" r:id="rId14"/>
    <p:sldId id="292" r:id="rId15"/>
    <p:sldId id="277" r:id="rId16"/>
    <p:sldId id="257" r:id="rId17"/>
    <p:sldId id="262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1AD75-0C98-4194-8566-DA8BA5E02B32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95C76-44D1-46B5-A5D2-81FD6872B4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795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BD99-D69B-4FE2-9AA6-EA00DEFC5CBF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358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14C017F-CD69-EEDB-9870-FDF7D79C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2135-A3EB-4C64-B285-7E21A57CB146}" type="datetime1">
              <a:rPr lang="it-IT" smtClean="0"/>
              <a:t>27/11/2025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A85745B-32BE-E871-CEFD-3E37FC02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146BDB7-15C3-4AD6-3ACF-ABEDF88E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it-IT" dirty="0"/>
              <a:t>1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624631DB-3287-8670-51C6-754EC0419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21716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A2FD0-D477-4C5C-87EE-F5218C338EAE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89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C356A-9D8F-4465-AD25-9C6DF4213899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955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1097-10A0-4E6A-895B-A3B2097B97A3}" type="datetime1">
              <a:rPr lang="it-IT" smtClean="0"/>
              <a:t>27/11/2025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657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AC8D-437B-4619-BC5C-1D9CC780E715}" type="datetime1">
              <a:rPr lang="it-IT" smtClean="0"/>
              <a:t>27/11/2025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374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487ED-6668-4B03-A705-34D95C179C88}" type="datetime1">
              <a:rPr lang="it-IT" smtClean="0"/>
              <a:t>27/11/2025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110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BC26BF1-5CB8-4F7A-959D-01A80A28121A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753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6E08-9720-4A32-A076-D7F2B0119554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877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43CF4-A938-4938-A01F-88856F08A1C1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949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1A12-699F-467A-9524-6B38CCA87F4B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6521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23DB35-ECB9-406F-F8E8-2FCA36E80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3B99FE1-BC69-A0FA-6F65-199654BE0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6F1511-C918-E925-95A2-8CF090BB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0646-E9A5-4369-AFF6-4AF755A1BD11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429695-8F46-D45D-85E3-2BBEDB82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2063CD-F1A7-BA02-10BA-BD233A6D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209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87AEE6-A6EB-7E60-D33B-1A3C036E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F119FB-DDFB-FE3F-A6E0-FCE6E33CA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389DB3-10E3-A1C2-0C81-4D155EB2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6F291-7EF1-4595-B607-CC1348D0AE41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A1A4B2-94FE-344B-2589-40CCD31F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E13C3E-B517-197A-64C2-E206D71A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517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26DF56-61B1-E4A7-96CB-30FA60C0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915F14B-7739-B3D4-14A9-38E62B507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FCD46D-F67A-8596-1E57-BBC540C7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81F34-320D-440E-9409-AA4EE30E9546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421248-F28B-D8A6-33B4-B21A7E9B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7994DA-B43B-CAFF-3496-B157720F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1422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6E4B09-9F0F-3E51-FB17-C878E6F4B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44C2F6-FB67-D345-5F9E-45A834DC9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A937E98-F95F-6B74-51CE-A318C39F6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332B28-2BB4-746D-6DA0-E8D1EC41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AD2EB-5C6F-458A-A16D-05648774C8E7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13D45A-28AF-F89B-DA2F-84D213B1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E70DE3C-D087-785A-BF91-7F6DDB21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368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FF5A05-0CDB-CCA3-77E4-7A74975B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90389B-D7C3-547B-CF98-7A3DEA65A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789600A-9865-7F5A-66FD-BB3AF984B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B62E708-D95D-262C-1BE0-60E867237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5A67685-3B69-5784-458B-2EB93C297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9F03621-180D-788F-4849-3EF38F73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24A4-265B-474E-BCFB-9A16BF0A1F81}" type="datetime1">
              <a:rPr lang="it-IT" smtClean="0"/>
              <a:t>27/11/2025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123C7C-401D-C325-2A98-EDD68908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FC6E6EE-D3C2-099F-7B24-58D1AFDA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4341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5217C-9F08-A104-4EFB-32EFACF3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3722073-3BBA-1452-6176-D51D6ED0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3EF5-2306-42B9-B595-488451954C14}" type="datetime1">
              <a:rPr lang="it-IT" smtClean="0"/>
              <a:t>27/11/2025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6385F-B6FC-B2C9-DB86-87821671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26F6E34-23FC-9DA0-A8AC-AB9ACFAB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140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0FD4A6F-D04D-931A-9AF6-BA0A65AF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4AE0A-FA08-4102-990C-4CF4C11D8985}" type="datetime1">
              <a:rPr lang="it-IT" smtClean="0"/>
              <a:t>27/11/2025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5D4F54-9673-ABCB-FAB0-CA2CAD41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6DCA5F-E55D-ADF6-035B-6EA54ED35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8371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8B8943-8223-A4D9-2A15-E8A0FAC3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548B7-D284-DB2B-7D7A-FDCD4A44A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9B5DB2C-CE6D-BC73-3F6F-B941C5067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7071C2-43A9-4C3F-E526-3E7300DE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6C75B-E5BE-43A1-B0F6-D6C6E5348466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FC95AB-916C-4248-1902-E07426D4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2B6C8BF-B586-05FE-CF04-6AC46E28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3542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1DBB01-B1FB-607C-6896-F5919588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81F2EFD-1758-89B3-B1D6-AA07F2E22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278645-D849-4466-67F9-05158E161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03943D-0F39-3B89-B417-7897C88A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73EB9-D87C-438B-A61A-105CCF0BD4B4}" type="datetime1">
              <a:rPr lang="it-IT" smtClean="0"/>
              <a:t>27/11/2025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F5BDD94-0F48-AA0A-150E-2F110BBF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AB6454-C220-21E0-A323-E10E2B1F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8601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332BF5-9A2E-8E08-CAAB-00AEE27D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5909C53-5CB7-4305-540E-0010980C4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54F968-2A1D-0416-A372-0E472EE5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4B5AD-A9A8-41EA-930D-FE6AE87F6B7A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BFB9A3-FF10-D120-56AF-D96B7995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15790C-9F22-9B06-D431-664E01A0D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2358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E529FDD-5F5E-DD87-C408-2C6AD44FC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C7E45F-3D1A-15AA-967E-181C567E6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34FAE9-55E3-59E3-B679-52E21E8F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141E-9832-4C79-A3A6-AC2D49C86E61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4849B4-C7CD-95F7-4E93-8DE6CBCB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3DA997-F2D3-5C93-D2F9-D0D7B4A8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32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406B2C-7590-4887-A367-6DA6EA161213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DED74E-4477-49AD-888A-6BEC99743A2A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40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F5705E6-3B8C-44EB-1D05-3D90081B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108581-D6AA-CA95-B4F6-39BC6E36B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D96FC2-4FA1-78D7-8705-887C10EEA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E9F56-690B-491F-84C4-C857AB59DA56}" type="datetime1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F8D053-38FB-67E4-2D95-AEC194B40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78AE1A-526C-7641-CF16-182661BAE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A8E49-CB74-4665-9C64-504F42C13F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219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6.1682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dv.dev/sdv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45AB7F23-3589-FF23-46C5-C66EB089ED30}"/>
              </a:ext>
            </a:extLst>
          </p:cNvPr>
          <p:cNvSpPr txBox="1"/>
          <p:nvPr/>
        </p:nvSpPr>
        <p:spPr>
          <a:xfrm>
            <a:off x="1612029" y="5787550"/>
            <a:ext cx="8740471" cy="3218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457200" algn="l"/>
              </a:tabLst>
              <a:defRPr i="1">
                <a:cs typeface="Segoe UI" panose="020B0502040204020203" pitchFamily="34" charset="0"/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ctr"/>
            <a:r>
              <a:rPr lang="it-IT" sz="1600" i="0" dirty="0">
                <a:solidFill>
                  <a:schemeClr val="accent2">
                    <a:lumMod val="75000"/>
                  </a:schemeClr>
                </a:solidFill>
              </a:rPr>
              <a:t>Introduzione al Machine Learning per le Scienze della Salute | 12-28 novembre 2025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A811C98B-0522-704E-3A21-378E39293057}"/>
              </a:ext>
            </a:extLst>
          </p:cNvPr>
          <p:cNvSpPr txBox="1">
            <a:spLocks/>
          </p:cNvSpPr>
          <p:nvPr/>
        </p:nvSpPr>
        <p:spPr>
          <a:xfrm>
            <a:off x="997092" y="2491236"/>
            <a:ext cx="9555084" cy="11469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it-IT" sz="4400" dirty="0">
                <a:latin typeface="+mn-lt"/>
              </a:rPr>
              <a:t>Reti generative per la creazione di dati sintetici anonimizzati a tutela della privacy negli studi osservazionali</a:t>
            </a:r>
            <a:endParaRPr lang="it-IT" sz="4400" i="1" dirty="0">
              <a:latin typeface="+mn-lt"/>
              <a:cs typeface="Segoe UI Semibold" panose="020B0702040204020203" pitchFamily="34" charset="0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CB3D961A-DD78-1D29-CE3A-545FBB07DB33}"/>
              </a:ext>
            </a:extLst>
          </p:cNvPr>
          <p:cNvCxnSpPr>
            <a:cxnSpLocks/>
          </p:cNvCxnSpPr>
          <p:nvPr/>
        </p:nvCxnSpPr>
        <p:spPr>
          <a:xfrm>
            <a:off x="1122265" y="1337955"/>
            <a:ext cx="1317521" cy="0"/>
          </a:xfrm>
          <a:prstGeom prst="line">
            <a:avLst/>
          </a:prstGeom>
          <a:ln w="88900">
            <a:solidFill>
              <a:srgbClr val="99CB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ottotitolo 2">
            <a:extLst>
              <a:ext uri="{FF2B5EF4-FFF2-40B4-BE49-F238E27FC236}">
                <a16:creationId xmlns:a16="http://schemas.microsoft.com/office/drawing/2014/main" id="{47C1359D-BAD8-D818-BD19-D041FBC666B7}"/>
              </a:ext>
            </a:extLst>
          </p:cNvPr>
          <p:cNvSpPr txBox="1">
            <a:spLocks/>
          </p:cNvSpPr>
          <p:nvPr/>
        </p:nvSpPr>
        <p:spPr>
          <a:xfrm>
            <a:off x="2022328" y="4331230"/>
            <a:ext cx="8621288" cy="32187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it-IT" sz="1800" i="1" dirty="0">
                <a:cs typeface="Segoe UI" panose="020B0502040204020203" pitchFamily="34" charset="0"/>
              </a:rPr>
              <a:t>ISS, Centro Nazionale Intelligenza Artificiale e Tecnologie Innovative per la Salute (IATIS)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7ECD773-FDAE-8EC4-E2F2-17B2424A4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86" y="3867816"/>
            <a:ext cx="1051475" cy="10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ottotitolo 2">
            <a:extLst>
              <a:ext uri="{FF2B5EF4-FFF2-40B4-BE49-F238E27FC236}">
                <a16:creationId xmlns:a16="http://schemas.microsoft.com/office/drawing/2014/main" id="{FDBA0049-E369-C933-4F92-2735BBAA245A}"/>
              </a:ext>
            </a:extLst>
          </p:cNvPr>
          <p:cNvSpPr txBox="1">
            <a:spLocks/>
          </p:cNvSpPr>
          <p:nvPr/>
        </p:nvSpPr>
        <p:spPr>
          <a:xfrm>
            <a:off x="2022328" y="3962576"/>
            <a:ext cx="8621288" cy="32187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it-IT" sz="2000" b="1" dirty="0">
                <a:solidFill>
                  <a:schemeClr val="accent2">
                    <a:lumMod val="75000"/>
                  </a:schemeClr>
                </a:solidFill>
                <a:cs typeface="Segoe UI" panose="020B0502040204020203" pitchFamily="34" charset="0"/>
              </a:rPr>
              <a:t>Giorgia Stendardo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6D3C165C-55BE-F37D-1725-0DAD3D541AAC}"/>
              </a:ext>
            </a:extLst>
          </p:cNvPr>
          <p:cNvCxnSpPr>
            <a:cxnSpLocks/>
          </p:cNvCxnSpPr>
          <p:nvPr/>
        </p:nvCxnSpPr>
        <p:spPr>
          <a:xfrm>
            <a:off x="1122265" y="3867816"/>
            <a:ext cx="9720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B01A735-00D8-D728-18FE-E00BB0668132}"/>
              </a:ext>
            </a:extLst>
          </p:cNvPr>
          <p:cNvSpPr txBox="1"/>
          <p:nvPr/>
        </p:nvSpPr>
        <p:spPr>
          <a:xfrm>
            <a:off x="2439786" y="4690452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it-IT" sz="1600" dirty="0">
                <a:cs typeface="Segoe UI" panose="020B0502040204020203" pitchFamily="34" charset="0"/>
              </a:rPr>
              <a:t>giorgia.stendardo@iss.it</a:t>
            </a:r>
          </a:p>
        </p:txBody>
      </p:sp>
      <p:pic>
        <p:nvPicPr>
          <p:cNvPr id="8194" name="Picture 2" descr="Email - Free web icons">
            <a:extLst>
              <a:ext uri="{FF2B5EF4-FFF2-40B4-BE49-F238E27FC236}">
                <a16:creationId xmlns:a16="http://schemas.microsoft.com/office/drawing/2014/main" id="{937E1166-1F3D-7912-A054-D4B4EB2A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16436" y="4690452"/>
            <a:ext cx="346066" cy="34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49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7886-6004-0023-64C3-FB5ECE2F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027922F-9066-CC68-D05D-EF1E2762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1</a:t>
            </a:r>
            <a:endParaRPr lang="it-IT" dirty="0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8E103525-3C9B-84B3-5185-02AACD8E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+mn-lt"/>
              </a:rPr>
              <a:t>Real-world data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C999D4-CC90-1179-C389-138DD4E2D7E6}"/>
              </a:ext>
            </a:extLst>
          </p:cNvPr>
          <p:cNvSpPr txBox="1"/>
          <p:nvPr/>
        </p:nvSpPr>
        <p:spPr>
          <a:xfrm>
            <a:off x="905256" y="2155328"/>
            <a:ext cx="88031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Dati su </a:t>
            </a:r>
            <a:r>
              <a:rPr lang="it-IT" sz="1600" dirty="0">
                <a:ea typeface="Calibri" panose="020F0502020204030204" pitchFamily="34" charset="0"/>
                <a:cs typeface="Arial" panose="020B0604020202020204" pitchFamily="34" charset="0"/>
              </a:rPr>
              <a:t>individui/pazienti </a:t>
            </a:r>
            <a:r>
              <a:rPr lang="it-IT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deriva</a:t>
            </a:r>
            <a:r>
              <a:rPr lang="it-IT" sz="1600" dirty="0"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it-IT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ti da un insieme eterogeneo di fonti: registri, banche dati amministrative e sanitarie, cartelle cliniche, </a:t>
            </a:r>
            <a:r>
              <a:rPr lang="it-IT" sz="1600" dirty="0"/>
              <a:t>device indossabili, …generati </a:t>
            </a:r>
            <a:r>
              <a:rPr lang="it-IT" sz="1600" dirty="0">
                <a:ea typeface="Calibri" panose="020F0502020204030204" pitchFamily="34" charset="0"/>
                <a:cs typeface="Arial" panose="020B0604020202020204" pitchFamily="34" charset="0"/>
              </a:rPr>
              <a:t>nella pratica quotidiana.</a:t>
            </a:r>
          </a:p>
          <a:p>
            <a:pPr marL="285750" indent="-285750" algn="just">
              <a:buClr>
                <a:srgbClr val="99CB38"/>
              </a:buClr>
              <a:buFont typeface="Arial" panose="020B0604020202020204" pitchFamily="34" charset="0"/>
              <a:buChar char="•"/>
            </a:pPr>
            <a:endParaRPr lang="it-IT" sz="16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it-IT" sz="1600" dirty="0">
                <a:ea typeface="Calibri" panose="020F0502020204030204" pitchFamily="34" charset="0"/>
                <a:cs typeface="Arial" panose="020B0604020202020204" pitchFamily="34" charset="0"/>
              </a:rPr>
              <a:t>Parte integrante degli studi osservazionali, in cui l’analisi di RWD produce </a:t>
            </a:r>
            <a:r>
              <a:rPr lang="it-IT" sz="1600" i="1" dirty="0" err="1">
                <a:ea typeface="Calibri" panose="020F0502020204030204" pitchFamily="34" charset="0"/>
                <a:cs typeface="Arial" panose="020B0604020202020204" pitchFamily="34" charset="0"/>
              </a:rPr>
              <a:t>real</a:t>
            </a:r>
            <a:r>
              <a:rPr lang="it-IT" sz="1600" i="1" dirty="0">
                <a:ea typeface="Calibri" panose="020F0502020204030204" pitchFamily="34" charset="0"/>
                <a:cs typeface="Arial" panose="020B0604020202020204" pitchFamily="34" charset="0"/>
              </a:rPr>
              <a:t> world </a:t>
            </a:r>
            <a:r>
              <a:rPr lang="it-IT" sz="1600" i="1" dirty="0" err="1">
                <a:ea typeface="Calibri" panose="020F0502020204030204" pitchFamily="34" charset="0"/>
                <a:cs typeface="Arial" panose="020B0604020202020204" pitchFamily="34" charset="0"/>
              </a:rPr>
              <a:t>evidence</a:t>
            </a:r>
            <a:r>
              <a:rPr lang="it-IT" sz="1600" dirty="0">
                <a:ea typeface="Calibri" panose="020F0502020204030204" pitchFamily="34" charset="0"/>
                <a:cs typeface="Arial" panose="020B0604020202020204" pitchFamily="34" charset="0"/>
              </a:rPr>
              <a:t>, ovvero informazioni utili nella ricerca farmaco-epidemiologica (</a:t>
            </a:r>
            <a:r>
              <a:rPr lang="it-IT" sz="1600" dirty="0">
                <a:solidFill>
                  <a:srgbClr val="0A0A0A"/>
                </a:solidFill>
              </a:rPr>
              <a:t>valutare l'efficacia di un trattamento in condizioni reali, identificare fattori di rischio, etc.), nelle valutazioni regolatorie e nelle decisioni sanitarie.</a:t>
            </a:r>
          </a:p>
          <a:p>
            <a:pPr algn="just">
              <a:buClr>
                <a:schemeClr val="accent1">
                  <a:lumMod val="75000"/>
                </a:schemeClr>
              </a:buClr>
            </a:pPr>
            <a:endParaRPr lang="it-IT" sz="1600" dirty="0">
              <a:solidFill>
                <a:srgbClr val="0A0A0A"/>
              </a:solidFill>
            </a:endParaRPr>
          </a:p>
          <a:p>
            <a:r>
              <a:rPr lang="it-IT" sz="1600" b="1" dirty="0"/>
              <a:t>Il problema dell’accesso ai RWD</a:t>
            </a:r>
          </a:p>
          <a:p>
            <a:endParaRPr lang="it-IT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L’uso secondario (diverso dallo scopo per cui sono stati raccolti) spesso limitato da vincoli etici e legali a tutela della privacy (Regolamento UE 2016/679 - GDPR), come il consenso degli interessati.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Ostacoli a: nuovi studi, condivisione dei dati, verifica dei risultati...</a:t>
            </a:r>
          </a:p>
        </p:txBody>
      </p:sp>
      <p:pic>
        <p:nvPicPr>
          <p:cNvPr id="3078" name="Picture 6" descr="Gdpr Compliant Immagini - Sfoglia 1,684 foto, vettoriali e video Stock |  Adobe Stock">
            <a:extLst>
              <a:ext uri="{FF2B5EF4-FFF2-40B4-BE49-F238E27FC236}">
                <a16:creationId xmlns:a16="http://schemas.microsoft.com/office/drawing/2014/main" id="{256076F1-8588-F971-BE94-BBEC05C89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434" y="3769595"/>
            <a:ext cx="2036525" cy="203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49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1D70-2241-F984-5FF0-8400C8E7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7BBBACC-DFD4-FB15-7D80-1B71E9C5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C4418F9-05E0-86C4-7C88-28226A94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+mn-lt"/>
              </a:rPr>
              <a:t>Dati sintetici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DB1AD4F-D7A4-CF41-0AD7-A17439771F76}"/>
              </a:ext>
            </a:extLst>
          </p:cNvPr>
          <p:cNvSpPr txBox="1"/>
          <p:nvPr/>
        </p:nvSpPr>
        <p:spPr>
          <a:xfrm>
            <a:off x="1097280" y="3193677"/>
            <a:ext cx="10568178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ACT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Regolamento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UE 2024/1689)</a:t>
            </a:r>
            <a:endParaRPr lang="it-IT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34185BD-4CB0-F042-D0B8-62EB5D1CC829}"/>
              </a:ext>
            </a:extLst>
          </p:cNvPr>
          <p:cNvSpPr txBox="1"/>
          <p:nvPr/>
        </p:nvSpPr>
        <p:spPr>
          <a:xfrm>
            <a:off x="869047" y="2027847"/>
            <a:ext cx="7304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chemeClr val="accent3">
                    <a:lumMod val="75000"/>
                  </a:schemeClr>
                </a:solidFill>
                <a:effectLst/>
              </a:rPr>
              <a:t>“Synthetic data</a:t>
            </a:r>
            <a:r>
              <a:rPr lang="en-US" sz="1600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600" b="0" i="1" dirty="0">
                <a:solidFill>
                  <a:schemeClr val="accent3">
                    <a:lumMod val="75000"/>
                  </a:schemeClr>
                </a:solidFill>
                <a:effectLst/>
              </a:rPr>
              <a:t>is artificially generated data that </a:t>
            </a:r>
            <a:r>
              <a:rPr lang="en-US" sz="1600" b="1" i="1" dirty="0">
                <a:solidFill>
                  <a:schemeClr val="accent3">
                    <a:lumMod val="75000"/>
                  </a:schemeClr>
                </a:solidFill>
                <a:effectLst/>
              </a:rPr>
              <a:t>maintains the statistical properties </a:t>
            </a:r>
            <a:r>
              <a:rPr lang="en-US" sz="1600" b="0" i="1" dirty="0">
                <a:solidFill>
                  <a:schemeClr val="accent3">
                    <a:lumMod val="75000"/>
                  </a:schemeClr>
                </a:solidFill>
                <a:effectLst/>
              </a:rPr>
              <a:t>of real-world datasets </a:t>
            </a:r>
            <a:r>
              <a:rPr lang="en-US" sz="1600" b="1" i="1" dirty="0">
                <a:solidFill>
                  <a:schemeClr val="accent3">
                    <a:lumMod val="75000"/>
                  </a:schemeClr>
                </a:solidFill>
                <a:effectLst/>
              </a:rPr>
              <a:t>without retaining any personally identifiable information</a:t>
            </a:r>
            <a:r>
              <a:rPr lang="en-US" sz="1600" b="0" i="1" dirty="0">
                <a:solidFill>
                  <a:schemeClr val="accent3">
                    <a:lumMod val="75000"/>
                  </a:schemeClr>
                </a:solidFill>
                <a:effectLst/>
              </a:rPr>
              <a:t>” </a:t>
            </a:r>
            <a:endParaRPr lang="it-IT" sz="1600" i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4840E4B-26C1-F451-435D-B27C35613E2D}"/>
              </a:ext>
            </a:extLst>
          </p:cNvPr>
          <p:cNvSpPr txBox="1"/>
          <p:nvPr/>
        </p:nvSpPr>
        <p:spPr>
          <a:xfrm>
            <a:off x="803495" y="3546992"/>
            <a:ext cx="44226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</a:rPr>
              <a:t>Art. 10(5)(a): Allows the use of synthetic data when RWD is insufficient for bias detection and correction. </a:t>
            </a:r>
            <a:endParaRPr lang="en-US" sz="1400" dirty="0"/>
          </a:p>
          <a:p>
            <a:pPr marL="285750" indent="-285750" algn="just">
              <a:buClr>
                <a:srgbClr val="99CB38"/>
              </a:buClr>
              <a:buFont typeface="Arial" panose="020B0604020202020204" pitchFamily="34" charset="0"/>
              <a:buChar char="•"/>
            </a:pPr>
            <a:endParaRPr lang="en-US" sz="1400" b="0" i="0" dirty="0">
              <a:effectLst/>
            </a:endParaRPr>
          </a:p>
          <a:p>
            <a:pPr marL="285750" indent="-285750" algn="just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Art. 59(1)(b): Recognizes synthetic data as a compliant alternative when anonymized or other non-personal data is insufficient to meet regulatory requirements.</a:t>
            </a:r>
            <a:endParaRPr lang="it-IT" sz="14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EBF529B-C792-5A76-95A2-7279610941AF}"/>
              </a:ext>
            </a:extLst>
          </p:cNvPr>
          <p:cNvSpPr txBox="1"/>
          <p:nvPr/>
        </p:nvSpPr>
        <p:spPr>
          <a:xfrm>
            <a:off x="869047" y="2562500"/>
            <a:ext cx="33913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150"/>
              </a:spcBef>
              <a:spcAft>
                <a:spcPts val="1575"/>
              </a:spcAft>
              <a:buNone/>
            </a:pPr>
            <a:r>
              <a:rPr lang="en-US" sz="1100" b="0" dirty="0">
                <a:effectLst/>
              </a:rPr>
              <a:t>Lora </a:t>
            </a:r>
            <a:r>
              <a:rPr lang="en-US" sz="1100" b="0" dirty="0" err="1">
                <a:effectLst/>
              </a:rPr>
              <a:t>Frayling</a:t>
            </a:r>
            <a:r>
              <a:rPr lang="en-US" sz="1100" b="0" dirty="0">
                <a:effectLst/>
              </a:rPr>
              <a:t> et al. Int J </a:t>
            </a:r>
            <a:r>
              <a:rPr lang="en-US" sz="1100" b="0" dirty="0" err="1">
                <a:effectLst/>
              </a:rPr>
              <a:t>Popul</a:t>
            </a:r>
            <a:r>
              <a:rPr lang="en-US" sz="1100" b="0" dirty="0">
                <a:effectLst/>
              </a:rPr>
              <a:t> Data Sci. (2025)</a:t>
            </a:r>
            <a:endParaRPr lang="en-US" sz="1100" b="0" dirty="0">
              <a:solidFill>
                <a:srgbClr val="2C3E50"/>
              </a:solidFill>
              <a:effectLst/>
            </a:endParaRP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30E6A3AC-F76E-E383-B127-D5A13810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529" y="1896281"/>
            <a:ext cx="3159488" cy="1809479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E753234-C265-60C9-02DC-98E20101070E}"/>
              </a:ext>
            </a:extLst>
          </p:cNvPr>
          <p:cNvSpPr txBox="1"/>
          <p:nvPr/>
        </p:nvSpPr>
        <p:spPr>
          <a:xfrm>
            <a:off x="374099" y="5285537"/>
            <a:ext cx="4879848" cy="738664"/>
          </a:xfrm>
          <a:prstGeom prst="rect">
            <a:avLst/>
          </a:prstGeom>
          <a:noFill/>
          <a:ln>
            <a:solidFill>
              <a:srgbClr val="99CB38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1400" dirty="0"/>
              <a:t>Migliorano qualità e rappresentatività dei dataset di training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1400" dirty="0"/>
              <a:t>Non contengono PII → tutela della privacy.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1400" dirty="0"/>
              <a:t>Facilitano la conformità a GDPR </a:t>
            </a:r>
          </a:p>
        </p:txBody>
      </p:sp>
      <p:pic>
        <p:nvPicPr>
          <p:cNvPr id="31" name="Content Placeholder 4">
            <a:extLst>
              <a:ext uri="{FF2B5EF4-FFF2-40B4-BE49-F238E27FC236}">
                <a16:creationId xmlns:a16="http://schemas.microsoft.com/office/drawing/2014/main" id="{D302591E-F0C0-ACD1-7B89-60F30AC14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4960" y="3218690"/>
            <a:ext cx="3334742" cy="2845352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2EEC2C3-5EA8-D99C-8A60-6C01EA181BCF}"/>
              </a:ext>
            </a:extLst>
          </p:cNvPr>
          <p:cNvSpPr txBox="1"/>
          <p:nvPr/>
        </p:nvSpPr>
        <p:spPr>
          <a:xfrm>
            <a:off x="9011729" y="3948213"/>
            <a:ext cx="2753279" cy="2246769"/>
          </a:xfrm>
          <a:prstGeom prst="rect">
            <a:avLst/>
          </a:prstGeom>
          <a:noFill/>
          <a:ln>
            <a:solidFill>
              <a:srgbClr val="99CB38"/>
            </a:solidFill>
          </a:ln>
        </p:spPr>
        <p:txBody>
          <a:bodyPr wrap="square">
            <a:spAutoFit/>
          </a:bodyPr>
          <a:lstStyle/>
          <a:p>
            <a:r>
              <a:rPr lang="it-IT" sz="1400" dirty="0"/>
              <a:t>Due requisiti fondamentali:</a:t>
            </a:r>
          </a:p>
          <a:p>
            <a:br>
              <a:rPr lang="it-IT" sz="1400" dirty="0"/>
            </a:br>
            <a:r>
              <a:rPr lang="it-IT" sz="1400" dirty="0"/>
              <a:t>-</a:t>
            </a:r>
            <a:r>
              <a:rPr lang="it-IT" sz="1400" b="1" dirty="0"/>
              <a:t> </a:t>
            </a:r>
            <a:r>
              <a:rPr lang="it-IT" sz="1400" dirty="0"/>
              <a:t>riprodurre in modo accurato le proprietà statistiche e le relazioni tra le variabili (</a:t>
            </a:r>
            <a:r>
              <a:rPr lang="it-IT" sz="1400" i="1" dirty="0"/>
              <a:t>utility</a:t>
            </a:r>
            <a:r>
              <a:rPr lang="it-IT" sz="1400" dirty="0"/>
              <a:t>)</a:t>
            </a:r>
          </a:p>
          <a:p>
            <a:endParaRPr lang="it-IT" sz="1400" dirty="0"/>
          </a:p>
          <a:p>
            <a:r>
              <a:rPr lang="it-IT" sz="1400" dirty="0"/>
              <a:t>- garantire un rischio minimo di </a:t>
            </a:r>
            <a:r>
              <a:rPr lang="it-IT" sz="1400" i="1" dirty="0"/>
              <a:t>disclosure (</a:t>
            </a:r>
            <a:r>
              <a:rPr lang="it-IT" sz="1400" dirty="0"/>
              <a:t>evitare di re-identificare individui reali o inferire informazioni sensibili su di essi)</a:t>
            </a:r>
          </a:p>
        </p:txBody>
      </p:sp>
    </p:spTree>
    <p:extLst>
      <p:ext uri="{BB962C8B-B14F-4D97-AF65-F5344CB8AC3E}">
        <p14:creationId xmlns:p14="http://schemas.microsoft.com/office/powerpoint/2010/main" val="155734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0292304-9EDB-2423-6872-DFDB240D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D5262931-F3C5-1956-6A75-CE0A1219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>
                <a:latin typeface="+mn-lt"/>
              </a:rPr>
              <a:t>Tecniche di generazione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F57571C-656D-DA2C-D270-6D4A28C7C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036"/>
          <a:stretch>
            <a:fillRect/>
          </a:stretch>
        </p:blipFill>
        <p:spPr>
          <a:xfrm>
            <a:off x="1120760" y="2057400"/>
            <a:ext cx="9950479" cy="3998306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A9B49C0-EFE2-D63B-3FDA-E8F05689BB0A}"/>
              </a:ext>
            </a:extLst>
          </p:cNvPr>
          <p:cNvSpPr txBox="1"/>
          <p:nvPr/>
        </p:nvSpPr>
        <p:spPr>
          <a:xfrm>
            <a:off x="1966988" y="4839929"/>
            <a:ext cx="1465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Synthpop (R)</a:t>
            </a:r>
          </a:p>
        </p:txBody>
      </p:sp>
    </p:spTree>
    <p:extLst>
      <p:ext uri="{BB962C8B-B14F-4D97-AF65-F5344CB8AC3E}">
        <p14:creationId xmlns:p14="http://schemas.microsoft.com/office/powerpoint/2010/main" val="214979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E712-3219-7F56-6B56-60790205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732337F-E822-4326-BA12-3213ECD6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B826658-351F-EAD6-D40D-BF9E4C46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 err="1">
                <a:latin typeface="+mn-lt"/>
              </a:rPr>
              <a:t>GANs</a:t>
            </a:r>
            <a:endParaRPr lang="it-IT" dirty="0">
              <a:latin typeface="+mn-lt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991649A-EB22-C5A5-3D51-BB8EAADB2932}"/>
              </a:ext>
            </a:extLst>
          </p:cNvPr>
          <p:cNvSpPr txBox="1"/>
          <p:nvPr/>
        </p:nvSpPr>
        <p:spPr>
          <a:xfrm>
            <a:off x="1097280" y="2474909"/>
            <a:ext cx="711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r>
              <a:rPr lang="it-IT" sz="1800" b="0" dirty="0"/>
              <a:t>Stato dell’arte in numerosi compiti di generazione di immagini:</a:t>
            </a:r>
          </a:p>
        </p:txBody>
      </p:sp>
      <p:pic>
        <p:nvPicPr>
          <p:cNvPr id="14" name="Immagine 13" descr="Immagine che contiene collage, schermata, Fotomontaggio, mosaico&#10;&#10;Il contenuto generato dall'IA potrebbe non essere corretto.">
            <a:extLst>
              <a:ext uri="{FF2B5EF4-FFF2-40B4-BE49-F238E27FC236}">
                <a16:creationId xmlns:a16="http://schemas.microsoft.com/office/drawing/2014/main" id="{1ADFF6AF-E47E-51BA-8C5F-AC9F1F362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5" y="2962086"/>
            <a:ext cx="4953760" cy="2762057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A9E4D33-C829-166C-3E12-EB29742035FE}"/>
              </a:ext>
            </a:extLst>
          </p:cNvPr>
          <p:cNvSpPr txBox="1"/>
          <p:nvPr/>
        </p:nvSpPr>
        <p:spPr>
          <a:xfrm>
            <a:off x="1361129" y="5659832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i="1" dirty="0" err="1"/>
              <a:t>Razavi</a:t>
            </a:r>
            <a:r>
              <a:rPr lang="it-IT" sz="1200" i="1" dirty="0"/>
              <a:t> et al. (2019)</a:t>
            </a:r>
          </a:p>
        </p:txBody>
      </p:sp>
      <p:pic>
        <p:nvPicPr>
          <p:cNvPr id="18" name="Immagine 17" descr="Immagine che contiene testo, gatto, Felidae, Gatti di taglia piccola e media&#10;&#10;Il contenuto generato dall'IA potrebbe non essere corretto.">
            <a:extLst>
              <a:ext uri="{FF2B5EF4-FFF2-40B4-BE49-F238E27FC236}">
                <a16:creationId xmlns:a16="http://schemas.microsoft.com/office/drawing/2014/main" id="{F3866F8E-652A-0724-09D9-44EEE3AF9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433" y="3018867"/>
            <a:ext cx="3820546" cy="2996507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EE8ACF7-619F-62B6-B1A3-747DA8AC7620}"/>
              </a:ext>
            </a:extLst>
          </p:cNvPr>
          <p:cNvSpPr txBox="1"/>
          <p:nvPr/>
        </p:nvSpPr>
        <p:spPr>
          <a:xfrm>
            <a:off x="1097280" y="2079819"/>
            <a:ext cx="9864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Generative </a:t>
            </a:r>
            <a:r>
              <a:rPr lang="it-IT" b="1" dirty="0" err="1"/>
              <a:t>Adversarial</a:t>
            </a:r>
            <a:r>
              <a:rPr lang="it-IT" b="1" dirty="0"/>
              <a:t> Networks (</a:t>
            </a:r>
            <a:r>
              <a:rPr lang="it-IT" b="1" dirty="0" err="1"/>
              <a:t>GANs</a:t>
            </a:r>
            <a:r>
              <a:rPr lang="it-IT" b="1" dirty="0"/>
              <a:t>)</a:t>
            </a:r>
            <a:r>
              <a:rPr lang="it-IT" dirty="0"/>
              <a:t>,</a:t>
            </a:r>
            <a:r>
              <a:rPr lang="it-IT" b="1" dirty="0"/>
              <a:t> </a:t>
            </a:r>
            <a:r>
              <a:rPr lang="it-IT" dirty="0"/>
              <a:t>introdotte da I. </a:t>
            </a:r>
            <a:r>
              <a:rPr lang="it-IT" dirty="0" err="1"/>
              <a:t>Goodfellow</a:t>
            </a:r>
            <a:r>
              <a:rPr lang="it-IT" dirty="0"/>
              <a:t>  et al. nel 2014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C12CE7C-C486-21DA-AACB-7A46E1DBBD16}"/>
              </a:ext>
            </a:extLst>
          </p:cNvPr>
          <p:cNvSpPr txBox="1"/>
          <p:nvPr/>
        </p:nvSpPr>
        <p:spPr>
          <a:xfrm>
            <a:off x="9131035" y="3854303"/>
            <a:ext cx="32019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it-IT" sz="1600" dirty="0"/>
              <a:t>Class-</a:t>
            </a:r>
            <a:r>
              <a:rPr lang="it-IT" sz="1600" dirty="0" err="1"/>
              <a:t>conditional</a:t>
            </a:r>
            <a:r>
              <a:rPr lang="it-IT" sz="1600" dirty="0"/>
              <a:t> generation </a:t>
            </a:r>
          </a:p>
          <a:p>
            <a:pPr marL="285750" indent="-285750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it-IT" sz="1600" dirty="0"/>
              <a:t>Super </a:t>
            </a:r>
            <a:r>
              <a:rPr lang="it-IT" sz="1600" dirty="0" err="1"/>
              <a:t>resolution</a:t>
            </a:r>
            <a:r>
              <a:rPr lang="it-IT" sz="1600" dirty="0"/>
              <a:t> </a:t>
            </a:r>
          </a:p>
          <a:p>
            <a:pPr marL="285750" indent="-285750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it-IT" sz="1600" dirty="0"/>
              <a:t>Text-to-image generation</a:t>
            </a:r>
          </a:p>
          <a:p>
            <a:pPr marL="285750" indent="-285750">
              <a:buClr>
                <a:srgbClr val="99CB38"/>
              </a:buClr>
              <a:buFont typeface="Arial" panose="020B0604020202020204" pitchFamily="34" charset="0"/>
              <a:buChar char="•"/>
            </a:pPr>
            <a:r>
              <a:rPr lang="it-IT" sz="1600" dirty="0"/>
              <a:t>Style transfer</a:t>
            </a:r>
          </a:p>
        </p:txBody>
      </p:sp>
    </p:spTree>
    <p:extLst>
      <p:ext uri="{BB962C8B-B14F-4D97-AF65-F5344CB8AC3E}">
        <p14:creationId xmlns:p14="http://schemas.microsoft.com/office/powerpoint/2010/main" val="1438775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EE0AD5-D44C-D91B-AC64-C13BFB07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5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BFF2438-3446-95B9-5EDD-783493993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+mn-lt"/>
              </a:rPr>
              <a:t>GANs</a:t>
            </a:r>
            <a:endParaRPr lang="it-IT" dirty="0">
              <a:latin typeface="+mn-lt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82077B9C-1DBF-CC56-5D59-D63CFE8B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74339"/>
            <a:ext cx="5209032" cy="301511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F6EB25-5FAE-494F-FD49-C725BC1C51F4}"/>
              </a:ext>
            </a:extLst>
          </p:cNvPr>
          <p:cNvSpPr txBox="1"/>
          <p:nvPr/>
        </p:nvSpPr>
        <p:spPr>
          <a:xfrm>
            <a:off x="1097280" y="5334040"/>
            <a:ext cx="41148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t-IT" sz="1600" dirty="0"/>
              <a:t>Il</a:t>
            </a:r>
            <a:r>
              <a:rPr lang="it-IT" sz="1600" b="1" dirty="0"/>
              <a:t> Generatore</a:t>
            </a:r>
            <a:r>
              <a:rPr lang="it-IT" sz="1600" dirty="0"/>
              <a:t> prende in input un vettore di rumore casuale </a:t>
            </a:r>
            <a:r>
              <a:rPr lang="it-IT" sz="1600" i="1" dirty="0"/>
              <a:t>z</a:t>
            </a:r>
            <a:r>
              <a:rPr lang="it-IT" sz="1600" dirty="0"/>
              <a:t> e genera un’immagine </a:t>
            </a:r>
            <a:r>
              <a:rPr lang="it-IT" sz="1600" i="1" dirty="0"/>
              <a:t>G(z)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26D160F-AA80-CB09-31E8-76F3E2E675AD}"/>
              </a:ext>
            </a:extLst>
          </p:cNvPr>
          <p:cNvSpPr txBox="1"/>
          <p:nvPr/>
        </p:nvSpPr>
        <p:spPr>
          <a:xfrm>
            <a:off x="6324710" y="2577208"/>
            <a:ext cx="5209032" cy="5847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600"/>
            </a:lvl1pPr>
          </a:lstStyle>
          <a:p>
            <a:r>
              <a:rPr lang="it-IT" dirty="0"/>
              <a:t>Il </a:t>
            </a:r>
            <a:r>
              <a:rPr lang="it-IT" b="1" dirty="0"/>
              <a:t>Discriminatore</a:t>
            </a:r>
            <a:r>
              <a:rPr lang="it-IT" dirty="0"/>
              <a:t> riceve l’immagine generata e classifica se è reale (1) o falsa (0) basandosi su esempi reali </a:t>
            </a:r>
            <a:r>
              <a:rPr lang="it-IT" i="1" dirty="0"/>
              <a:t>x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A985D69-D025-0AA0-0531-1460D0236A27}"/>
              </a:ext>
            </a:extLst>
          </p:cNvPr>
          <p:cNvSpPr txBox="1"/>
          <p:nvPr/>
        </p:nvSpPr>
        <p:spPr>
          <a:xfrm>
            <a:off x="6708648" y="3633635"/>
            <a:ext cx="5209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Addestramento competitivo attraverso </a:t>
            </a:r>
            <a:r>
              <a:rPr lang="it-IT" sz="1600" b="1" i="1" dirty="0">
                <a:solidFill>
                  <a:schemeClr val="accent2"/>
                </a:solidFill>
              </a:rPr>
              <a:t>min-max </a:t>
            </a:r>
            <a:r>
              <a:rPr lang="it-IT" sz="1600" b="1" i="1" dirty="0" err="1">
                <a:solidFill>
                  <a:schemeClr val="accent2"/>
                </a:solidFill>
              </a:rPr>
              <a:t>loss</a:t>
            </a:r>
            <a:r>
              <a:rPr lang="it-IT" sz="1600" dirty="0"/>
              <a:t>: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9FC17BBD-E88A-9DC6-8134-4E8AA9FD7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20" y="4137329"/>
            <a:ext cx="5358232" cy="629380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0FEAECE-DE89-80E0-EE2E-D2A02E1C0DEB}"/>
              </a:ext>
            </a:extLst>
          </p:cNvPr>
          <p:cNvSpPr txBox="1"/>
          <p:nvPr/>
        </p:nvSpPr>
        <p:spPr>
          <a:xfrm>
            <a:off x="6324710" y="5120641"/>
            <a:ext cx="5324441" cy="1077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b="1" dirty="0">
                <a:solidFill>
                  <a:srgbClr val="FF0000"/>
                </a:solidFill>
              </a:rPr>
              <a:t>Apprendimento NON supervisionato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/>
              <a:t> Il Discriminatore ha automaticamente le label vere (0,1)!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600" dirty="0"/>
              <a:t> Il Generatore impara imitando la distribuzione dei dati, non una classe o un target!</a:t>
            </a:r>
          </a:p>
        </p:txBody>
      </p:sp>
    </p:spTree>
    <p:extLst>
      <p:ext uri="{BB962C8B-B14F-4D97-AF65-F5344CB8AC3E}">
        <p14:creationId xmlns:p14="http://schemas.microsoft.com/office/powerpoint/2010/main" val="348043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08691-E7DE-47C7-ADDC-02D8C9BD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C4EBD16-6D3C-FDA6-2B8D-2504548D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6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99DE178-3304-BAE2-064D-D9776174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+mn-lt"/>
              </a:rPr>
              <a:t>GANs</a:t>
            </a:r>
            <a:endParaRPr lang="it-IT" dirty="0">
              <a:latin typeface="+mn-lt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B28EF39-E51D-13FA-08F7-DF39AEF59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74339"/>
            <a:ext cx="5209032" cy="301511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991180B-2DF1-92A0-DD69-8C90AC92532F}"/>
              </a:ext>
            </a:extLst>
          </p:cNvPr>
          <p:cNvSpPr txBox="1"/>
          <p:nvPr/>
        </p:nvSpPr>
        <p:spPr>
          <a:xfrm>
            <a:off x="1097280" y="5334040"/>
            <a:ext cx="41148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600"/>
            </a:lvl1pPr>
          </a:lstStyle>
          <a:p>
            <a:r>
              <a:rPr lang="it-IT" dirty="0"/>
              <a:t>Il </a:t>
            </a:r>
            <a:r>
              <a:rPr lang="it-IT" b="1" dirty="0"/>
              <a:t>Generatore</a:t>
            </a:r>
            <a:r>
              <a:rPr lang="it-IT" dirty="0"/>
              <a:t> prende in input un vettore di rumore casuale z e genera un’immagine G(z)</a:t>
            </a:r>
          </a:p>
        </p:txBody>
      </p:sp>
      <p:pic>
        <p:nvPicPr>
          <p:cNvPr id="6" name="Immagine 5" descr="Immagine che contiene diagramma, disegno, schizzo, design&#10;&#10;Il contenuto generato dall'IA potrebbe non essere corretto.">
            <a:extLst>
              <a:ext uri="{FF2B5EF4-FFF2-40B4-BE49-F238E27FC236}">
                <a16:creationId xmlns:a16="http://schemas.microsoft.com/office/drawing/2014/main" id="{B0D2C05B-83AC-57D9-5104-78AB5F30A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565" y="3706370"/>
            <a:ext cx="3113435" cy="226690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56AE2912-A473-CAD3-EFF4-01CBD204966F}"/>
              </a:ext>
            </a:extLst>
          </p:cNvPr>
          <p:cNvSpPr txBox="1"/>
          <p:nvPr/>
        </p:nvSpPr>
        <p:spPr>
          <a:xfrm>
            <a:off x="6096000" y="3728136"/>
            <a:ext cx="31134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400" dirty="0"/>
              <a:t>Il Generatore minimizza la probabilità che il Discriminatore riconosca i falsi, producendo così dati sempre più simili ai reali (</a:t>
            </a:r>
            <a:r>
              <a:rPr lang="it-IT" sz="1400" i="1" dirty="0" err="1"/>
              <a:t>gradient</a:t>
            </a:r>
            <a:r>
              <a:rPr lang="it-IT" sz="1400" i="1" dirty="0"/>
              <a:t> </a:t>
            </a:r>
            <a:r>
              <a:rPr lang="it-IT" sz="1400" i="1" dirty="0" err="1"/>
              <a:t>descent</a:t>
            </a:r>
            <a:r>
              <a:rPr lang="it-IT" sz="1400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400" dirty="0"/>
              <a:t>Il Discriminatore massimizza la probabilità di riconoscere i reali, per fornire feedback utili al Generatore affinché migliori (</a:t>
            </a:r>
            <a:r>
              <a:rPr lang="it-IT" sz="1400" i="1" dirty="0" err="1"/>
              <a:t>gradient</a:t>
            </a:r>
            <a:r>
              <a:rPr lang="it-IT" sz="1400" i="1" dirty="0"/>
              <a:t> </a:t>
            </a:r>
            <a:r>
              <a:rPr lang="it-IT" sz="1400" i="1" dirty="0" err="1"/>
              <a:t>descent</a:t>
            </a:r>
            <a:r>
              <a:rPr lang="it-IT" sz="1400" dirty="0"/>
              <a:t>).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545318-53FD-9ABE-C391-1A5A0D8A2365}"/>
              </a:ext>
            </a:extLst>
          </p:cNvPr>
          <p:cNvSpPr txBox="1"/>
          <p:nvPr/>
        </p:nvSpPr>
        <p:spPr>
          <a:xfrm>
            <a:off x="6278880" y="2565226"/>
            <a:ext cx="5209032" cy="5847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600"/>
            </a:lvl1pPr>
          </a:lstStyle>
          <a:p>
            <a:r>
              <a:rPr lang="it-IT" dirty="0"/>
              <a:t>Il </a:t>
            </a:r>
            <a:r>
              <a:rPr lang="it-IT" b="1" dirty="0"/>
              <a:t>Discriminatore</a:t>
            </a:r>
            <a:r>
              <a:rPr lang="it-IT" dirty="0"/>
              <a:t> riceve l’immagine generata e classifica se è reale (1) o falsa (0) basandosi su esempi reali x</a:t>
            </a:r>
          </a:p>
        </p:txBody>
      </p:sp>
    </p:spTree>
    <p:extLst>
      <p:ext uri="{BB962C8B-B14F-4D97-AF65-F5344CB8AC3E}">
        <p14:creationId xmlns:p14="http://schemas.microsoft.com/office/powerpoint/2010/main" val="316118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C7C1-2D02-8BBA-3CC8-3384285C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4E5EF68-39FE-8B10-3863-9561F0E2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7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AA40609-887D-B46D-47BC-ACAF1657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+mn-lt"/>
              </a:rPr>
              <a:t>GANs</a:t>
            </a:r>
            <a:endParaRPr lang="it-IT" dirty="0">
              <a:latin typeface="+mn-lt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F638FE4-2BFD-F40D-55FC-EF739AA641C1}"/>
              </a:ext>
            </a:extLst>
          </p:cNvPr>
          <p:cNvSpPr txBox="1"/>
          <p:nvPr/>
        </p:nvSpPr>
        <p:spPr>
          <a:xfrm>
            <a:off x="511586" y="2022715"/>
            <a:ext cx="64399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 dirty="0"/>
              <a:t>Loss modificata (</a:t>
            </a:r>
            <a:r>
              <a:rPr lang="it-IT" sz="1600" b="1" i="1" dirty="0">
                <a:solidFill>
                  <a:schemeClr val="accent2"/>
                </a:solidFill>
              </a:rPr>
              <a:t>Non-</a:t>
            </a:r>
            <a:r>
              <a:rPr lang="it-IT" sz="1600" b="1" i="1" dirty="0" err="1">
                <a:solidFill>
                  <a:schemeClr val="accent2"/>
                </a:solidFill>
              </a:rPr>
              <a:t>saturating</a:t>
            </a:r>
            <a:r>
              <a:rPr lang="it-IT" sz="1600" b="1" i="1" dirty="0">
                <a:solidFill>
                  <a:schemeClr val="accent2"/>
                </a:solidFill>
              </a:rPr>
              <a:t> </a:t>
            </a:r>
            <a:r>
              <a:rPr lang="it-IT" sz="1600" b="1" i="1" dirty="0" err="1">
                <a:solidFill>
                  <a:schemeClr val="accent2"/>
                </a:solidFill>
              </a:rPr>
              <a:t>loss</a:t>
            </a:r>
            <a:r>
              <a:rPr lang="it-IT" sz="1600" dirty="0"/>
              <a:t>) per il generatore: risolve il problema del </a:t>
            </a:r>
            <a:r>
              <a:rPr lang="it-IT" sz="1600" i="1" dirty="0" err="1"/>
              <a:t>vanishing</a:t>
            </a:r>
            <a:r>
              <a:rPr lang="it-IT" sz="1600" i="1" dirty="0"/>
              <a:t> </a:t>
            </a:r>
            <a:r>
              <a:rPr lang="it-IT" sz="1600" i="1" dirty="0" err="1"/>
              <a:t>gradient</a:t>
            </a:r>
            <a:r>
              <a:rPr lang="it-IT" sz="1600" i="1" dirty="0"/>
              <a:t>, </a:t>
            </a:r>
            <a:r>
              <a:rPr lang="it-IT" sz="1600" dirty="0"/>
              <a:t>ovvero</a:t>
            </a:r>
            <a:r>
              <a:rPr lang="it-IT" sz="1600" i="1" dirty="0"/>
              <a:t> </a:t>
            </a:r>
            <a:r>
              <a:rPr lang="it-IT" sz="1600" dirty="0"/>
              <a:t>quando il discriminatore è già da subito molto bravo, e il gradiente si ha solo quando i sintetici sono già buoni:</a:t>
            </a:r>
          </a:p>
        </p:txBody>
      </p:sp>
      <p:pic>
        <p:nvPicPr>
          <p:cNvPr id="15" name="Immagine 14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1964FD68-BD72-81AF-F121-E240A78B1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728" y="1827307"/>
            <a:ext cx="4681329" cy="2176981"/>
          </a:xfrm>
          <a:prstGeom prst="rect">
            <a:avLst/>
          </a:prstGeom>
        </p:spPr>
      </p:pic>
      <p:pic>
        <p:nvPicPr>
          <p:cNvPr id="2" name="Immagine 1" descr="Immagine che contiene Carattere, tipografia, testo, calligrafia&#10;&#10;Il contenuto generato dall'IA potrebbe non essere corretto.">
            <a:extLst>
              <a:ext uri="{FF2B5EF4-FFF2-40B4-BE49-F238E27FC236}">
                <a16:creationId xmlns:a16="http://schemas.microsoft.com/office/drawing/2014/main" id="{54DC8B76-003D-8F9E-5CCC-D38FB866B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651" y="2974745"/>
            <a:ext cx="2995004" cy="454255"/>
          </a:xfrm>
          <a:prstGeom prst="rect">
            <a:avLst/>
          </a:prstGeom>
        </p:spPr>
      </p:pic>
      <p:pic>
        <p:nvPicPr>
          <p:cNvPr id="5" name="Immagine 4" descr="Immagine che contiene schermata&#10;&#10;Il contenuto generato dall'IA potrebbe non essere corretto.">
            <a:extLst>
              <a:ext uri="{FF2B5EF4-FFF2-40B4-BE49-F238E27FC236}">
                <a16:creationId xmlns:a16="http://schemas.microsoft.com/office/drawing/2014/main" id="{35E5C08F-DDA1-5988-539D-5EB28DA0A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98" y="4832827"/>
            <a:ext cx="4406084" cy="1323439"/>
          </a:xfrm>
          <a:prstGeom prst="rect">
            <a:avLst/>
          </a:prstGeom>
        </p:spPr>
      </p:pic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8FA1B26-0181-0F0A-74B7-60772839A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3806422"/>
            <a:ext cx="3558955" cy="244433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1285476-D783-E375-6CD5-D2EBF0F7237D}"/>
              </a:ext>
            </a:extLst>
          </p:cNvPr>
          <p:cNvSpPr txBox="1"/>
          <p:nvPr/>
        </p:nvSpPr>
        <p:spPr>
          <a:xfrm>
            <a:off x="493299" y="3806422"/>
            <a:ext cx="6458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just"/>
            <a:r>
              <a:rPr lang="it-IT" b="1" dirty="0"/>
              <a:t>Mode </a:t>
            </a:r>
            <a:r>
              <a:rPr lang="it-IT" b="1" dirty="0" err="1"/>
              <a:t>collapse</a:t>
            </a:r>
            <a:r>
              <a:rPr lang="it-IT" dirty="0"/>
              <a:t>: il Generatore produce solo pochi tipi di campioni, invece di catturare tutta la varietà della distribuzione reale. Problema dovuto alla scomparsa di gradiente utile quando le due distribuzioni non si sovrappongono.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9D1D070-F865-B097-D346-564E1D54F908}"/>
              </a:ext>
            </a:extLst>
          </p:cNvPr>
          <p:cNvSpPr txBox="1"/>
          <p:nvPr/>
        </p:nvSpPr>
        <p:spPr>
          <a:xfrm>
            <a:off x="4935581" y="4832827"/>
            <a:ext cx="36260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just"/>
            <a:r>
              <a:rPr lang="it-IT" dirty="0"/>
              <a:t>Risolto con </a:t>
            </a:r>
            <a:r>
              <a:rPr lang="it-IT" dirty="0" err="1"/>
              <a:t>Wasserstein</a:t>
            </a:r>
            <a:r>
              <a:rPr lang="it-IT" dirty="0"/>
              <a:t> </a:t>
            </a:r>
            <a:r>
              <a:rPr lang="it-IT" dirty="0" err="1"/>
              <a:t>distance</a:t>
            </a:r>
            <a:r>
              <a:rPr lang="it-IT" dirty="0"/>
              <a:t> (WGAN, (</a:t>
            </a:r>
            <a:r>
              <a:rPr lang="it-IT" dirty="0" err="1"/>
              <a:t>Arjovsky</a:t>
            </a:r>
            <a:r>
              <a:rPr lang="it-IT" dirty="0"/>
              <a:t> et al., 2017) -&gt; Il Generatore riceve gradiente non nullo e stabile dal Critico (ex Discriminatore), che lo costringe ad aumentare la diversità.</a:t>
            </a:r>
          </a:p>
        </p:txBody>
      </p:sp>
    </p:spTree>
    <p:extLst>
      <p:ext uri="{BB962C8B-B14F-4D97-AF65-F5344CB8AC3E}">
        <p14:creationId xmlns:p14="http://schemas.microsoft.com/office/powerpoint/2010/main" val="152267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5B8F745-6E5E-9585-66E4-005296B3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8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718C571-35E8-CA27-BF47-175E3ADD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latin typeface="+mn-lt"/>
              </a:rPr>
              <a:t>CTGAN</a:t>
            </a:r>
          </a:p>
        </p:txBody>
      </p:sp>
      <p:pic>
        <p:nvPicPr>
          <p:cNvPr id="1026" name="Picture 2" descr="modal">
            <a:extLst>
              <a:ext uri="{FF2B5EF4-FFF2-40B4-BE49-F238E27FC236}">
                <a16:creationId xmlns:a16="http://schemas.microsoft.com/office/drawing/2014/main" id="{F41FD4E3-68E0-F278-8328-5B7E85A20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402" y="3297047"/>
            <a:ext cx="5300293" cy="265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053B631-F26B-CB91-4BB1-E4C5E26EB68C}"/>
              </a:ext>
            </a:extLst>
          </p:cNvPr>
          <p:cNvSpPr txBox="1"/>
          <p:nvPr/>
        </p:nvSpPr>
        <p:spPr>
          <a:xfrm>
            <a:off x="1097280" y="1973608"/>
            <a:ext cx="104724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dirty="0"/>
              <a:t>Le GAN tradizionali faticano a modellare correttamente le variabili categoriche, molto presenti nei dataset reali.</a:t>
            </a:r>
          </a:p>
          <a:p>
            <a:pPr>
              <a:buNone/>
            </a:pPr>
            <a:br>
              <a:rPr lang="it-IT" sz="1600" dirty="0"/>
            </a:br>
            <a:r>
              <a:rPr lang="it-IT" sz="1600" b="1" dirty="0" err="1"/>
              <a:t>Conditional</a:t>
            </a:r>
            <a:r>
              <a:rPr lang="it-IT" sz="1600" b="1" dirty="0"/>
              <a:t> Tabular GAN </a:t>
            </a:r>
            <a:r>
              <a:rPr lang="it-IT" sz="1600" dirty="0"/>
              <a:t>(CTGAN, </a:t>
            </a:r>
            <a:r>
              <a:rPr lang="it-IT" sz="1600" dirty="0">
                <a:solidFill>
                  <a:srgbClr val="1F2328"/>
                </a:solidFill>
              </a:rPr>
              <a:t>L. Xu,2019) </a:t>
            </a:r>
            <a:r>
              <a:rPr lang="it-IT" sz="1600" dirty="0"/>
              <a:t>è stata progettato appositamente per i dataset tabellari, che hanno </a:t>
            </a:r>
            <a:r>
              <a:rPr lang="it-IT" sz="1600" b="1" dirty="0"/>
              <a:t>dati misti </a:t>
            </a:r>
            <a:r>
              <a:rPr lang="it-IT" sz="1600" dirty="0"/>
              <a:t>(numerici e categorici).</a:t>
            </a:r>
          </a:p>
          <a:p>
            <a:pPr>
              <a:buNone/>
            </a:pPr>
            <a:endParaRPr lang="it-IT" sz="16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7AF416F-377C-B201-6D28-6B94575D90B3}"/>
              </a:ext>
            </a:extLst>
          </p:cNvPr>
          <p:cNvSpPr txBox="1"/>
          <p:nvPr/>
        </p:nvSpPr>
        <p:spPr>
          <a:xfrm>
            <a:off x="1097280" y="3377598"/>
            <a:ext cx="54128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it-IT" sz="1600" dirty="0"/>
          </a:p>
          <a:p>
            <a:pPr algn="just"/>
            <a:r>
              <a:rPr lang="it-IT" sz="1600" dirty="0"/>
              <a:t>Affronta due problemi tipici dei dati tabellari:</a:t>
            </a:r>
          </a:p>
          <a:p>
            <a:pPr algn="just"/>
            <a:endParaRPr lang="it-IT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Distribuzioni multimodali (non-gaussiane) e asimmetriche (</a:t>
            </a:r>
            <a:r>
              <a:rPr lang="it-IT" sz="1600" i="1" dirty="0" err="1"/>
              <a:t>skewed</a:t>
            </a:r>
            <a:r>
              <a:rPr lang="it-IT" sz="1600" dirty="0"/>
              <a:t>) dei dati numerici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 dirty="0"/>
              <a:t>Categorie sbilanciate (che portano al </a:t>
            </a:r>
            <a:r>
              <a:rPr lang="it-IT" sz="1600" i="1" dirty="0"/>
              <a:t>mode </a:t>
            </a:r>
            <a:r>
              <a:rPr lang="it-IT" sz="1600" i="1" dirty="0" err="1"/>
              <a:t>collapse</a:t>
            </a:r>
            <a:r>
              <a:rPr lang="it-IT" sz="1600" dirty="0"/>
              <a:t>, ovvero a ignorare le rare)</a:t>
            </a:r>
          </a:p>
        </p:txBody>
      </p:sp>
    </p:spTree>
    <p:extLst>
      <p:ext uri="{BB962C8B-B14F-4D97-AF65-F5344CB8AC3E}">
        <p14:creationId xmlns:p14="http://schemas.microsoft.com/office/powerpoint/2010/main" val="26514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4884C5F-DC88-274C-5C2E-380103EA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741C5CE-F4D0-0B0E-2820-B58B0ADC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9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0D748DA-7587-6AA4-D961-5707C0A17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latin typeface="+mn-lt"/>
              </a:rPr>
              <a:t>CTGAN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BF5019A-914B-3BCB-EC5D-289986C6FF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67" r="49990" b="3831"/>
          <a:stretch>
            <a:fillRect/>
          </a:stretch>
        </p:blipFill>
        <p:spPr bwMode="auto">
          <a:xfrm>
            <a:off x="7890790" y="1940539"/>
            <a:ext cx="3321693" cy="271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A3BC09C-166D-08C8-A1E8-5D58B5F38114}"/>
              </a:ext>
            </a:extLst>
          </p:cNvPr>
          <p:cNvSpPr txBox="1"/>
          <p:nvPr/>
        </p:nvSpPr>
        <p:spPr>
          <a:xfrm>
            <a:off x="1097280" y="2143776"/>
            <a:ext cx="6421425" cy="6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</a:rPr>
              <a:t>Mode-Specific Normalization</a:t>
            </a:r>
          </a:p>
          <a:p>
            <a:pPr>
              <a:lnSpc>
                <a:spcPct val="150000"/>
              </a:lnSpc>
            </a:pPr>
            <a:r>
              <a:rPr lang="it-IT" sz="1600" dirty="0"/>
              <a:t>Identifica le distribuzioni multimodali (i picchi) per ogni variabile continua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023E14E-0C83-6ADC-BCFB-4C3B49A59D2C}"/>
              </a:ext>
            </a:extLst>
          </p:cNvPr>
          <p:cNvSpPr txBox="1"/>
          <p:nvPr/>
        </p:nvSpPr>
        <p:spPr>
          <a:xfrm>
            <a:off x="669746" y="3013501"/>
            <a:ext cx="722104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it-IT" sz="1600" dirty="0"/>
              <a:t>Trasforma ogni valore continuo in due componenti:</a:t>
            </a:r>
          </a:p>
          <a:p>
            <a:pPr lvl="1"/>
            <a:endParaRPr lang="it-IT" sz="1600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/>
              <a:t>Un vettore (one-hot) che codifica a quale modalità (curva) appartiene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dirty="0"/>
              <a:t>Uno scalare che codifica il valore normalizzato all'interno di quella modalità</a:t>
            </a:r>
          </a:p>
        </p:txBody>
      </p:sp>
      <p:pic>
        <p:nvPicPr>
          <p:cNvPr id="1028" name="Picture 4" descr="An example of mode-specific normalization. ci,j represents a value i in a feature j (e.g., j = `Age`), for which p3 was picked. ci,j is therefore represented by a vector [ai, j, 0, 0, 1]. n3 and phi3 represent the mode and standard deviation of p3. Image from [1].">
            <a:extLst>
              <a:ext uri="{FF2B5EF4-FFF2-40B4-BE49-F238E27FC236}">
                <a16:creationId xmlns:a16="http://schemas.microsoft.com/office/drawing/2014/main" id="{4644132F-DEFB-5882-F645-8AA4F3DD3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608" y="4530041"/>
            <a:ext cx="6164768" cy="16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956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1A44A-E9B8-A2CA-7CED-91961FE71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3DA1E6F-600F-300C-3604-282A2F7D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10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EADA4B0-A9CA-F026-DB1C-EF9E0509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latin typeface="+mn-lt"/>
              </a:rPr>
              <a:t>CTGAN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D537947-112E-1FB1-DB95-868BB75A5378}"/>
              </a:ext>
            </a:extLst>
          </p:cNvPr>
          <p:cNvSpPr txBox="1"/>
          <p:nvPr/>
        </p:nvSpPr>
        <p:spPr>
          <a:xfrm>
            <a:off x="1097279" y="2043183"/>
            <a:ext cx="100583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it-IT" sz="1600" b="1" dirty="0" err="1">
                <a:solidFill>
                  <a:schemeClr val="accent2"/>
                </a:solidFill>
              </a:rPr>
              <a:t>Conditional</a:t>
            </a:r>
            <a:r>
              <a:rPr lang="it-IT" sz="1600" b="1" dirty="0">
                <a:solidFill>
                  <a:schemeClr val="accent2"/>
                </a:solidFill>
              </a:rPr>
              <a:t> Sampling </a:t>
            </a:r>
          </a:p>
          <a:p>
            <a:pPr algn="just">
              <a:buNone/>
            </a:pPr>
            <a:endParaRPr lang="it-IT" sz="1600" b="1" dirty="0">
              <a:solidFill>
                <a:schemeClr val="accent2"/>
              </a:solidFill>
            </a:endParaRPr>
          </a:p>
          <a:p>
            <a:pPr algn="just">
              <a:buNone/>
            </a:pPr>
            <a:r>
              <a:rPr lang="it-IT" sz="1600" dirty="0"/>
              <a:t>CTGAN non genera ogni riga in modo casuale. Obbliga il Generatore generare i dati condizionati a una specifica combinazione di categorie, affinché impari a creare esempi realistici per tutte, comprese quelle rare, ad ogni </a:t>
            </a:r>
            <a:r>
              <a:rPr lang="it-IT" sz="1600" i="1" dirty="0"/>
              <a:t>step</a:t>
            </a:r>
            <a:r>
              <a:rPr lang="it-IT" sz="1600" dirty="0"/>
              <a:t> di addestramento.</a:t>
            </a:r>
          </a:p>
          <a:p>
            <a:pPr algn="just">
              <a:buNone/>
            </a:pPr>
            <a:br>
              <a:rPr lang="it-IT" sz="1600" dirty="0"/>
            </a:br>
            <a:r>
              <a:rPr lang="it-IT" sz="1600" dirty="0"/>
              <a:t>Prima sceglie una colonna e un valore/categoria su cui condizionare la generazione.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09F9EEB-EAD3-229E-B379-35F6466C10D4}"/>
              </a:ext>
            </a:extLst>
          </p:cNvPr>
          <p:cNvSpPr txBox="1"/>
          <p:nvPr/>
        </p:nvSpPr>
        <p:spPr>
          <a:xfrm>
            <a:off x="1097279" y="4477002"/>
            <a:ext cx="574597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Poi crea un </a:t>
            </a:r>
            <a:r>
              <a:rPr lang="it-IT" sz="1600" b="1" dirty="0" err="1"/>
              <a:t>Conditional</a:t>
            </a:r>
            <a:r>
              <a:rPr lang="it-IT" sz="1600" dirty="0"/>
              <a:t> </a:t>
            </a:r>
            <a:r>
              <a:rPr lang="it-IT" sz="1600" b="1" dirty="0" err="1"/>
              <a:t>vector</a:t>
            </a:r>
            <a:r>
              <a:rPr lang="it-IT" sz="1600" dirty="0"/>
              <a:t>:</a:t>
            </a:r>
          </a:p>
          <a:p>
            <a:endParaRPr lang="it-IT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600" dirty="0"/>
              <a:t>vettore che rappresenta la scelta, codificata in one-hot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viene concatenato all’input del generatore e del discriminatore</a:t>
            </a:r>
            <a:br>
              <a:rPr lang="it-IT" sz="1600" dirty="0"/>
            </a:br>
            <a:endParaRPr lang="en-US" sz="16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B6DEDC-4996-2CA4-A188-1CEEEA10D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5"/>
          <a:stretch>
            <a:fillRect/>
          </a:stretch>
        </p:blipFill>
        <p:spPr bwMode="auto">
          <a:xfrm>
            <a:off x="6322078" y="3859065"/>
            <a:ext cx="5647414" cy="241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391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AB9928F-84FB-5145-E66F-5C4EBE5C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11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2D2BEAD-86BD-F9B6-BBD7-9093D267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>
                <a:latin typeface="+mn-lt"/>
              </a:rPr>
              <a:t>Disclosure risk (Privacy </a:t>
            </a:r>
            <a:r>
              <a:rPr lang="it-IT" dirty="0" err="1">
                <a:latin typeface="+mn-lt"/>
              </a:rPr>
              <a:t>metrics</a:t>
            </a:r>
            <a:r>
              <a:rPr lang="it-IT" dirty="0">
                <a:latin typeface="+mn-lt"/>
              </a:rPr>
              <a:t>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ADA5808-632F-3F32-5D0C-FEDC1021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98" t="34086" r="28041" b="26807"/>
          <a:stretch>
            <a:fillRect/>
          </a:stretch>
        </p:blipFill>
        <p:spPr>
          <a:xfrm>
            <a:off x="6723656" y="1946318"/>
            <a:ext cx="3169223" cy="133349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FDDDBD1-2823-C8C6-2506-2B2FBA27F9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85" t="35441" r="27991" b="26130"/>
          <a:stretch>
            <a:fillRect/>
          </a:stretch>
        </p:blipFill>
        <p:spPr>
          <a:xfrm>
            <a:off x="6723657" y="3356675"/>
            <a:ext cx="3169223" cy="132002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74784E8-FCEA-CDC2-ECFF-E56CC9A4C9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61" t="38056" r="28194" b="25769"/>
          <a:stretch>
            <a:fillRect/>
          </a:stretch>
        </p:blipFill>
        <p:spPr>
          <a:xfrm>
            <a:off x="6723657" y="4860904"/>
            <a:ext cx="3176801" cy="122370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9889802-19F9-4804-D80D-6F9E3DE98951}"/>
              </a:ext>
            </a:extLst>
          </p:cNvPr>
          <p:cNvSpPr txBox="1"/>
          <p:nvPr/>
        </p:nvSpPr>
        <p:spPr>
          <a:xfrm>
            <a:off x="1431036" y="2160044"/>
            <a:ext cx="45948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 b="1" dirty="0">
                <a:solidFill>
                  <a:schemeClr val="accent2"/>
                </a:solidFill>
              </a:rPr>
              <a:t>Quasi-identificatori (QI)</a:t>
            </a:r>
            <a:r>
              <a:rPr lang="it-IT" sz="1600" dirty="0"/>
              <a:t>:</a:t>
            </a:r>
            <a:r>
              <a:rPr lang="it-IT" sz="1600" b="1" dirty="0">
                <a:solidFill>
                  <a:schemeClr val="accent2"/>
                </a:solidFill>
              </a:rPr>
              <a:t> </a:t>
            </a:r>
          </a:p>
          <a:p>
            <a:pPr algn="just"/>
            <a:r>
              <a:rPr lang="it-IT" sz="1600" dirty="0"/>
              <a:t>variabili contenenti informazioni potenzialmente di pubblico dominio (note) su un individuo che possono essere combinate per identificarlo (es. età, sesso)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363353B-467E-D731-BE9A-ABFB96D0470E}"/>
              </a:ext>
            </a:extLst>
          </p:cNvPr>
          <p:cNvSpPr txBox="1"/>
          <p:nvPr/>
        </p:nvSpPr>
        <p:spPr>
          <a:xfrm>
            <a:off x="1431036" y="3652195"/>
            <a:ext cx="47320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chemeClr val="accent2"/>
                </a:solidFill>
              </a:rPr>
              <a:t>Variabile target</a:t>
            </a:r>
            <a:r>
              <a:rPr lang="it-IT" sz="1600" dirty="0"/>
              <a:t>:</a:t>
            </a:r>
            <a:r>
              <a:rPr lang="it-IT" dirty="0"/>
              <a:t> </a:t>
            </a:r>
          </a:p>
          <a:p>
            <a:r>
              <a:rPr lang="it-IT" sz="1600" dirty="0"/>
              <a:t>informazione non disponibile pubblicamente, che deve essere protetta (es. diagnosi, stato di trattamento)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4146FD0-684D-FE88-1F89-54DC0D58D44D}"/>
              </a:ext>
            </a:extLst>
          </p:cNvPr>
          <p:cNvSpPr txBox="1"/>
          <p:nvPr/>
        </p:nvSpPr>
        <p:spPr>
          <a:xfrm>
            <a:off x="1431036" y="4928902"/>
            <a:ext cx="4594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r>
              <a:rPr lang="it-IT" dirty="0"/>
              <a:t>Gruppo di equivalenza</a:t>
            </a:r>
            <a:r>
              <a:rPr lang="it-IT" b="0" dirty="0">
                <a:solidFill>
                  <a:schemeClr val="tx1"/>
                </a:solidFill>
              </a:rPr>
              <a:t>:</a:t>
            </a:r>
            <a:r>
              <a:rPr lang="it-IT" dirty="0"/>
              <a:t> </a:t>
            </a:r>
          </a:p>
          <a:p>
            <a:r>
              <a:rPr lang="it-IT" b="0" dirty="0">
                <a:solidFill>
                  <a:schemeClr val="tx1"/>
                </a:solidFill>
              </a:rPr>
              <a:t>gruppo con gli stessi QI, in cui un singolo individuo non può essere identificato</a:t>
            </a:r>
          </a:p>
        </p:txBody>
      </p:sp>
    </p:spTree>
    <p:extLst>
      <p:ext uri="{BB962C8B-B14F-4D97-AF65-F5344CB8AC3E}">
        <p14:creationId xmlns:p14="http://schemas.microsoft.com/office/powerpoint/2010/main" val="726687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B2E02DB-4D5D-6257-2B55-81353446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12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23C740-1D50-1DC4-1A33-7577B5918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61" t="38056" r="28194" b="25769"/>
          <a:stretch>
            <a:fillRect/>
          </a:stretch>
        </p:blipFill>
        <p:spPr>
          <a:xfrm>
            <a:off x="6396230" y="2205296"/>
            <a:ext cx="3766240" cy="1450756"/>
          </a:xfrm>
          <a:prstGeom prst="rect">
            <a:avLst/>
          </a:prstGeom>
        </p:spPr>
      </p:pic>
      <p:sp>
        <p:nvSpPr>
          <p:cNvPr id="6" name="Segnaposto contenuto 1">
            <a:extLst>
              <a:ext uri="{FF2B5EF4-FFF2-40B4-BE49-F238E27FC236}">
                <a16:creationId xmlns:a16="http://schemas.microsoft.com/office/drawing/2014/main" id="{3B1B9EE5-8643-F79F-C921-4F3EF780F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865" y="4230140"/>
            <a:ext cx="4821309" cy="1781000"/>
          </a:xfrm>
          <a:noFill/>
        </p:spPr>
        <p:txBody>
          <a:bodyPr wrap="square">
            <a:spAutoFit/>
          </a:bodyPr>
          <a:lstStyle/>
          <a:p>
            <a:pPr marL="0" indent="0" defTabSz="457200">
              <a:buNone/>
            </a:pPr>
            <a:r>
              <a:rPr lang="it-IT" sz="1600" b="1" dirty="0" err="1">
                <a:solidFill>
                  <a:schemeClr val="tx1"/>
                </a:solidFill>
              </a:rPr>
              <a:t>Attribute</a:t>
            </a:r>
            <a:r>
              <a:rPr lang="it-IT" sz="1600" b="1" dirty="0">
                <a:solidFill>
                  <a:schemeClr val="tx1"/>
                </a:solidFill>
              </a:rPr>
              <a:t> Disclosure (AD)</a:t>
            </a:r>
          </a:p>
          <a:p>
            <a:pPr marL="0" indent="0" defTabSz="457200">
              <a:buNone/>
            </a:pPr>
            <a:r>
              <a:rPr lang="it-IT" sz="1600" i="1" dirty="0">
                <a:solidFill>
                  <a:schemeClr val="tx1"/>
                </a:solidFill>
              </a:rPr>
              <a:t>misura il rischio di inferire, per un individuo reale, il valore di una variabile target (non nota), combinando la conoscenza dei dati sintetici con quella dei QI</a:t>
            </a:r>
          </a:p>
          <a:p>
            <a:pPr marL="0" indent="0" defTabSz="457200">
              <a:buNone/>
            </a:pPr>
            <a:r>
              <a:rPr lang="it-IT" sz="1600" b="1" dirty="0">
                <a:solidFill>
                  <a:schemeClr val="accent2"/>
                </a:solidFill>
              </a:rPr>
              <a:t>L-</a:t>
            </a:r>
            <a:r>
              <a:rPr lang="it-IT" sz="1600" b="1" dirty="0" err="1">
                <a:solidFill>
                  <a:schemeClr val="accent2"/>
                </a:solidFill>
              </a:rPr>
              <a:t>diversity</a:t>
            </a:r>
            <a:r>
              <a:rPr lang="it-IT" sz="1600" dirty="0">
                <a:solidFill>
                  <a:schemeClr val="tx1"/>
                </a:solidFill>
              </a:rPr>
              <a:t>: in tutti i gruppi di equivalenza ci sono almeno L valori distinti degli attributi sensibili. Protegge dalla AD.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98651D0-0D4F-BE25-F3DB-76773550E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54" t="38246" r="28107" b="27122"/>
          <a:stretch>
            <a:fillRect/>
          </a:stretch>
        </p:blipFill>
        <p:spPr>
          <a:xfrm>
            <a:off x="6396230" y="4541093"/>
            <a:ext cx="3836521" cy="1450755"/>
          </a:xfrm>
          <a:prstGeom prst="rect">
            <a:avLst/>
          </a:prstGeom>
        </p:spPr>
      </p:pic>
      <p:sp>
        <p:nvSpPr>
          <p:cNvPr id="2" name="Titolo 3">
            <a:extLst>
              <a:ext uri="{FF2B5EF4-FFF2-40B4-BE49-F238E27FC236}">
                <a16:creationId xmlns:a16="http://schemas.microsoft.com/office/drawing/2014/main" id="{5185AC5C-48A7-5591-ADF7-2CE08936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>
                <a:latin typeface="+mn-lt"/>
              </a:rPr>
              <a:t>Disclosure risk (Privacy </a:t>
            </a:r>
            <a:r>
              <a:rPr lang="it-IT" dirty="0" err="1">
                <a:latin typeface="+mn-lt"/>
              </a:rPr>
              <a:t>metrics</a:t>
            </a:r>
            <a:r>
              <a:rPr lang="it-IT" dirty="0">
                <a:latin typeface="+mn-lt"/>
              </a:rPr>
              <a:t>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69F106A-8325-5821-09E1-0AD6E5E14673}"/>
              </a:ext>
            </a:extLst>
          </p:cNvPr>
          <p:cNvSpPr txBox="1"/>
          <p:nvPr/>
        </p:nvSpPr>
        <p:spPr>
          <a:xfrm>
            <a:off x="1097280" y="2022733"/>
            <a:ext cx="50817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Identity Disclosure (ID)</a:t>
            </a:r>
            <a:br>
              <a:rPr lang="it-IT" sz="1600" dirty="0"/>
            </a:br>
            <a:r>
              <a:rPr lang="it-IT" sz="1600" i="1" dirty="0"/>
              <a:t>misura il rischio di identificare un individuo specifico sulla base della conoscenza dei QI</a:t>
            </a:r>
          </a:p>
          <a:p>
            <a:endParaRPr lang="it-IT" sz="1600" dirty="0"/>
          </a:p>
          <a:p>
            <a:r>
              <a:rPr lang="it-IT" sz="1600" b="1" dirty="0">
                <a:solidFill>
                  <a:schemeClr val="accent2"/>
                </a:solidFill>
              </a:rPr>
              <a:t>K-</a:t>
            </a:r>
            <a:r>
              <a:rPr lang="it-IT" sz="1600" b="1" dirty="0" err="1">
                <a:solidFill>
                  <a:schemeClr val="accent2"/>
                </a:solidFill>
              </a:rPr>
              <a:t>Anonymity</a:t>
            </a:r>
            <a:r>
              <a:rPr lang="it-IT" sz="1600" dirty="0"/>
              <a:t>: ogni individuo non può essere distinto da almeno altri k − 1 individui all’interno del gruppo di equivalenza (nell’es. 2). Protegge dalla ID.</a:t>
            </a:r>
          </a:p>
        </p:txBody>
      </p:sp>
    </p:spTree>
    <p:extLst>
      <p:ext uri="{BB962C8B-B14F-4D97-AF65-F5344CB8AC3E}">
        <p14:creationId xmlns:p14="http://schemas.microsoft.com/office/powerpoint/2010/main" val="16314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2119F56-9F9B-AC23-A712-FD45FAE7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13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07E82596-5EA8-FDC0-3CB3-CB3799DF8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85653"/>
              </p:ext>
            </p:extLst>
          </p:nvPr>
        </p:nvGraphicFramePr>
        <p:xfrm>
          <a:off x="1154083" y="2014352"/>
          <a:ext cx="10058400" cy="3686920"/>
        </p:xfrm>
        <a:graphic>
          <a:graphicData uri="http://schemas.openxmlformats.org/drawingml/2006/table">
            <a:tbl>
              <a:tblPr/>
              <a:tblGrid>
                <a:gridCol w="3188009">
                  <a:extLst>
                    <a:ext uri="{9D8B030D-6E8A-4147-A177-3AD203B41FA5}">
                      <a16:colId xmlns:a16="http://schemas.microsoft.com/office/drawing/2014/main" val="76020837"/>
                    </a:ext>
                  </a:extLst>
                </a:gridCol>
                <a:gridCol w="3801793">
                  <a:extLst>
                    <a:ext uri="{9D8B030D-6E8A-4147-A177-3AD203B41FA5}">
                      <a16:colId xmlns:a16="http://schemas.microsoft.com/office/drawing/2014/main" val="3044521132"/>
                    </a:ext>
                  </a:extLst>
                </a:gridCol>
                <a:gridCol w="3068598">
                  <a:extLst>
                    <a:ext uri="{9D8B030D-6E8A-4147-A177-3AD203B41FA5}">
                      <a16:colId xmlns:a16="http://schemas.microsoft.com/office/drawing/2014/main" val="275429736"/>
                    </a:ext>
                  </a:extLst>
                </a:gridCol>
              </a:tblGrid>
              <a:tr h="340397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 i="0" dirty="0"/>
                        <a:t>Identity disclosure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b="1" i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270073"/>
                  </a:ext>
                </a:extLst>
              </a:tr>
              <a:tr h="578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 b="1" dirty="0" err="1"/>
                        <a:t>UiO</a:t>
                      </a:r>
                      <a:r>
                        <a:rPr lang="it-IT" sz="1600" b="1" dirty="0"/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it-IT" sz="1600" b="0" dirty="0"/>
                        <a:t>(</a:t>
                      </a:r>
                      <a:r>
                        <a:rPr lang="it-IT" sz="1600" b="0" i="1" dirty="0" err="1"/>
                        <a:t>Unique</a:t>
                      </a:r>
                      <a:r>
                        <a:rPr lang="it-IT" sz="1600" b="0" i="1" dirty="0"/>
                        <a:t> in </a:t>
                      </a:r>
                      <a:r>
                        <a:rPr lang="it-IT" sz="1600" b="0" i="1" dirty="0" err="1"/>
                        <a:t>Original</a:t>
                      </a:r>
                      <a:r>
                        <a:rPr lang="it-IT" sz="1600" b="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record unici, rispetto ai QI, nel dataset reale</a:t>
                      </a:r>
                      <a:endParaRPr lang="it-IT" sz="14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  → rischio elevato di re-identificazione in partenza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96285"/>
                  </a:ext>
                </a:extLst>
              </a:tr>
              <a:tr h="578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 b="1" dirty="0" err="1"/>
                        <a:t>RepU</a:t>
                      </a:r>
                      <a:r>
                        <a:rPr lang="it-IT" sz="1600" b="1" dirty="0"/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it-IT" sz="1600" b="0" dirty="0"/>
                        <a:t>(</a:t>
                      </a:r>
                      <a:r>
                        <a:rPr lang="it-IT" sz="1600" b="0" i="1" dirty="0" err="1"/>
                        <a:t>Replicated</a:t>
                      </a:r>
                      <a:r>
                        <a:rPr lang="it-IT" sz="1600" b="0" i="1" dirty="0"/>
                        <a:t> </a:t>
                      </a:r>
                      <a:r>
                        <a:rPr lang="it-IT" sz="1600" b="0" i="1" dirty="0" err="1"/>
                        <a:t>Uniques</a:t>
                      </a:r>
                      <a:r>
                        <a:rPr lang="it-IT" sz="1600" b="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record unici anche nel dataset sintetico</a:t>
                      </a:r>
                      <a:endParaRPr lang="it-IT" sz="14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  → rischio residuo elevato </a:t>
                      </a:r>
                    </a:p>
                    <a:p>
                      <a:pPr algn="l"/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nel sintetico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510455"/>
                  </a:ext>
                </a:extLst>
              </a:tr>
              <a:tr h="340397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 dirty="0" err="1"/>
                        <a:t>Attribute</a:t>
                      </a:r>
                      <a:r>
                        <a:rPr lang="it-IT" sz="1600" b="1" dirty="0"/>
                        <a:t> disclosure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161558"/>
                  </a:ext>
                </a:extLst>
              </a:tr>
              <a:tr h="7926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 b="1" dirty="0" err="1"/>
                        <a:t>Dorig</a:t>
                      </a:r>
                      <a:r>
                        <a:rPr lang="it-IT" sz="1600" b="1" dirty="0"/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it-IT" sz="1600" b="0" i="1" dirty="0"/>
                        <a:t>(</a:t>
                      </a:r>
                      <a:r>
                        <a:rPr lang="it-IT" sz="1600" b="0" i="1" dirty="0" err="1"/>
                        <a:t>Disclosive</a:t>
                      </a:r>
                      <a:r>
                        <a:rPr lang="it-IT" sz="1600" b="0" i="1" dirty="0"/>
                        <a:t> in </a:t>
                      </a:r>
                      <a:r>
                        <a:rPr lang="it-IT" sz="1600" b="0" i="1" dirty="0" err="1"/>
                        <a:t>ORIginal</a:t>
                      </a:r>
                      <a:r>
                        <a:rPr lang="it-IT" sz="1600" b="0" i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record nel reale per cui, per una data combinazione di QI, il target ha un valore unico</a:t>
                      </a:r>
                      <a:endParaRPr lang="it-IT" sz="1400" b="0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 → target è facilmente prevedibile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063422"/>
                  </a:ext>
                </a:extLst>
              </a:tr>
              <a:tr h="10552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 b="1" dirty="0"/>
                        <a:t>DISCO </a:t>
                      </a:r>
                    </a:p>
                    <a:p>
                      <a:pPr algn="l">
                        <a:buNone/>
                      </a:pPr>
                      <a:r>
                        <a:rPr lang="it-IT" sz="1600" b="0" i="1" dirty="0"/>
                        <a:t>(</a:t>
                      </a:r>
                      <a:r>
                        <a:rPr lang="it-IT" sz="1600" b="0" i="1" dirty="0" err="1"/>
                        <a:t>DISclosive</a:t>
                      </a:r>
                      <a:r>
                        <a:rPr lang="it-IT" sz="1600" b="0" i="1" dirty="0"/>
                        <a:t> and </a:t>
                      </a:r>
                      <a:r>
                        <a:rPr lang="it-IT" sz="1600" b="0" i="1" dirty="0" err="1"/>
                        <a:t>COrrect</a:t>
                      </a:r>
                      <a:r>
                        <a:rPr lang="it-IT" sz="1600" b="0" i="1" dirty="0"/>
                        <a:t> in </a:t>
                      </a:r>
                      <a:r>
                        <a:rPr lang="it-IT" sz="1600" b="0" i="1" dirty="0" err="1"/>
                        <a:t>synthetic</a:t>
                      </a:r>
                      <a:r>
                        <a:rPr lang="it-IT" sz="1600" b="0" i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record nel reale per cui, nel dataset sintetico, esiste una combinazione degli stessi QI che presenta un solo valore del target, e questo coincide con quello reale.</a:t>
                      </a:r>
                      <a:endParaRPr lang="it-IT" sz="1400" b="0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alta → il dataset sintetico è in grado di inferire correttamente valori sensibili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532782"/>
                  </a:ext>
                </a:extLst>
              </a:tr>
            </a:tbl>
          </a:graphicData>
        </a:graphic>
      </p:graphicFrame>
      <p:sp>
        <p:nvSpPr>
          <p:cNvPr id="2" name="Titolo 3">
            <a:extLst>
              <a:ext uri="{FF2B5EF4-FFF2-40B4-BE49-F238E27FC236}">
                <a16:creationId xmlns:a16="http://schemas.microsoft.com/office/drawing/2014/main" id="{5BA29266-82BC-63CB-13F5-AE7685490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>
                <a:latin typeface="+mn-lt"/>
              </a:rPr>
              <a:t>Disclosure risk (Privacy </a:t>
            </a:r>
            <a:r>
              <a:rPr lang="it-IT" dirty="0" err="1">
                <a:latin typeface="+mn-lt"/>
              </a:rPr>
              <a:t>metrics</a:t>
            </a:r>
            <a:r>
              <a:rPr lang="it-IT" dirty="0">
                <a:latin typeface="+mn-lt"/>
              </a:rPr>
              <a:t>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3745EFE-4BFD-3299-046F-468B406CFA46}"/>
              </a:ext>
            </a:extLst>
          </p:cNvPr>
          <p:cNvSpPr txBox="1"/>
          <p:nvPr/>
        </p:nvSpPr>
        <p:spPr>
          <a:xfrm>
            <a:off x="2612690" y="5777562"/>
            <a:ext cx="7287768" cy="33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225"/>
              </a:spcBef>
              <a:buNone/>
            </a:pPr>
            <a:r>
              <a:rPr lang="en-US" sz="1400" b="0" i="1" strike="noStrike" dirty="0">
                <a:solidFill>
                  <a:schemeClr val="accent2"/>
                </a:solidFill>
                <a:effectLst/>
              </a:rPr>
              <a:t> Gillian M Raab </a:t>
            </a:r>
            <a:r>
              <a:rPr lang="en-US" sz="1400" i="1" dirty="0">
                <a:solidFill>
                  <a:schemeClr val="accent2"/>
                </a:solidFill>
              </a:rPr>
              <a:t>et al., </a:t>
            </a:r>
            <a:r>
              <a:rPr lang="en-US" sz="1400" b="0" i="1" strike="noStrike" dirty="0">
                <a:solidFill>
                  <a:schemeClr val="accent2"/>
                </a:solidFill>
                <a:effectLst/>
              </a:rPr>
              <a:t>Practical privacy metrics for synthetic data (2024). arXiv:2406.16826</a:t>
            </a:r>
            <a:endParaRPr lang="en-US" sz="1400" b="0" i="1" strike="noStrike" dirty="0">
              <a:solidFill>
                <a:schemeClr val="accent2"/>
              </a:solidFill>
              <a:effectLst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88485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F22C57-9C6E-CF89-9214-476B0323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>
                <a:latin typeface="+mn-lt"/>
              </a:rPr>
              <a:t>SDV (</a:t>
            </a:r>
            <a:r>
              <a:rPr lang="it-IT" dirty="0" err="1">
                <a:latin typeface="+mn-lt"/>
              </a:rPr>
              <a:t>Synthetic</a:t>
            </a:r>
            <a:r>
              <a:rPr lang="it-IT" dirty="0">
                <a:latin typeface="+mn-lt"/>
              </a:rPr>
              <a:t> Data </a:t>
            </a:r>
            <a:r>
              <a:rPr lang="it-IT" dirty="0" err="1">
                <a:latin typeface="+mn-lt"/>
              </a:rPr>
              <a:t>Vault</a:t>
            </a:r>
            <a:r>
              <a:rPr lang="it-IT" dirty="0">
                <a:latin typeface="+mn-lt"/>
              </a:rPr>
              <a:t>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602A8B-DB77-421E-7E8F-35A10154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14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519EB13-B7AA-7EC3-35E2-63B10FD067DB}"/>
              </a:ext>
            </a:extLst>
          </p:cNvPr>
          <p:cNvSpPr txBox="1"/>
          <p:nvPr/>
        </p:nvSpPr>
        <p:spPr>
          <a:xfrm>
            <a:off x="1097279" y="2029730"/>
            <a:ext cx="9884665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1600" dirty="0"/>
              <a:t>Libreria Python per generare dati sintetici tabellari (</a:t>
            </a:r>
            <a:r>
              <a:rPr lang="it-IT" sz="1600" dirty="0">
                <a:hlinkClick r:id="rId2"/>
              </a:rPr>
              <a:t>https://docs.sdv.dev/sdv</a:t>
            </a:r>
            <a:r>
              <a:rPr lang="it-IT" sz="1600" dirty="0"/>
              <a:t>)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1600" b="1" dirty="0"/>
              <a:t>Data </a:t>
            </a:r>
            <a:r>
              <a:rPr lang="it-IT" sz="1600" b="1" dirty="0" err="1"/>
              <a:t>Preparation</a:t>
            </a:r>
            <a:r>
              <a:rPr lang="it-IT" sz="1600" dirty="0"/>
              <a:t>: caricamento del dataset reale (</a:t>
            </a:r>
            <a:r>
              <a:rPr lang="it-IT" sz="1600" dirty="0" err="1"/>
              <a:t>pandas</a:t>
            </a:r>
            <a:r>
              <a:rPr lang="it-IT" sz="1600" dirty="0"/>
              <a:t> </a:t>
            </a:r>
            <a:r>
              <a:rPr lang="it-IT" sz="1600" dirty="0" err="1"/>
              <a:t>DataFrame</a:t>
            </a:r>
            <a:r>
              <a:rPr lang="it-IT" sz="1600" dirty="0"/>
              <a:t>) e definizione dei metadata (chiavi primarie, tipi di dato per ogni colonna, etc.)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1600" b="1" dirty="0" err="1"/>
              <a:t>Modeling</a:t>
            </a:r>
            <a:r>
              <a:rPr lang="it-IT" sz="1600" dirty="0"/>
              <a:t>: scelta del modello (</a:t>
            </a:r>
            <a:r>
              <a:rPr lang="it-IT" sz="1600" i="1" dirty="0" err="1"/>
              <a:t>synthesizer</a:t>
            </a:r>
            <a:r>
              <a:rPr lang="it-IT" sz="1600" dirty="0"/>
              <a:t>)-&gt; </a:t>
            </a:r>
            <a:r>
              <a:rPr lang="it-IT" sz="1600" dirty="0" err="1"/>
              <a:t>CTGANSynthesizer</a:t>
            </a:r>
            <a:r>
              <a:rPr lang="it-IT" sz="1600" dirty="0"/>
              <a:t> – basato su CTGAN 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1600" b="1" dirty="0"/>
              <a:t>Training &amp; Sampling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it-IT" sz="1600" b="1" dirty="0"/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it-IT" sz="1600" b="1" dirty="0"/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it-IT" sz="1600" b="1" dirty="0" err="1"/>
              <a:t>Evaluating</a:t>
            </a:r>
            <a:r>
              <a:rPr lang="it-IT" sz="1600" b="1" dirty="0"/>
              <a:t>: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93D397B-178F-E029-AAFD-2DC651BBB521}"/>
              </a:ext>
            </a:extLst>
          </p:cNvPr>
          <p:cNvSpPr txBox="1"/>
          <p:nvPr/>
        </p:nvSpPr>
        <p:spPr>
          <a:xfrm>
            <a:off x="5385581" y="4247495"/>
            <a:ext cx="4968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 err="1"/>
              <a:t>decreasing</a:t>
            </a:r>
            <a:r>
              <a:rPr lang="it-IT" sz="1600" dirty="0"/>
              <a:t> and negative </a:t>
            </a:r>
            <a:r>
              <a:rPr lang="it-IT" sz="1600" dirty="0" err="1"/>
              <a:t>loss</a:t>
            </a:r>
            <a:r>
              <a:rPr lang="it-IT" sz="1600" dirty="0"/>
              <a:t> for generator (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able</a:t>
            </a:r>
            <a:r>
              <a:rPr lang="it-IT" sz="1600" dirty="0"/>
              <a:t> to </a:t>
            </a:r>
            <a:r>
              <a:rPr lang="it-IT" sz="1600" dirty="0" err="1"/>
              <a:t>fool</a:t>
            </a:r>
            <a:r>
              <a:rPr lang="it-IT" sz="1600" dirty="0"/>
              <a:t>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462781-AAC0-CAD2-A6AC-107545AF5A0A}"/>
              </a:ext>
            </a:extLst>
          </p:cNvPr>
          <p:cNvSpPr txBox="1"/>
          <p:nvPr/>
        </p:nvSpPr>
        <p:spPr>
          <a:xfrm>
            <a:off x="5385581" y="3893230"/>
            <a:ext cx="474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 err="1"/>
              <a:t>loss</a:t>
            </a:r>
            <a:r>
              <a:rPr lang="it-IT" sz="1600" dirty="0"/>
              <a:t> </a:t>
            </a:r>
            <a:r>
              <a:rPr lang="it-IT" sz="1600" dirty="0" err="1"/>
              <a:t>oscillating</a:t>
            </a:r>
            <a:r>
              <a:rPr lang="it-IT" sz="1600" dirty="0"/>
              <a:t> </a:t>
            </a:r>
            <a:r>
              <a:rPr lang="it-IT" sz="1600" dirty="0" err="1"/>
              <a:t>around</a:t>
            </a:r>
            <a:r>
              <a:rPr lang="it-IT" sz="1600" dirty="0"/>
              <a:t> zero for discriminator: </a:t>
            </a:r>
            <a:r>
              <a:rPr lang="it-IT" sz="1600" dirty="0" err="1"/>
              <a:t>fooled</a:t>
            </a:r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7CF7160-A91D-DB5F-D20F-2FCF71D5D90E}"/>
              </a:ext>
            </a:extLst>
          </p:cNvPr>
          <p:cNvSpPr txBox="1"/>
          <p:nvPr/>
        </p:nvSpPr>
        <p:spPr>
          <a:xfrm>
            <a:off x="3487478" y="4100286"/>
            <a:ext cx="176669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accent2"/>
                </a:solidFill>
              </a:rPr>
              <a:t>GOOD BALANCE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5C7605D-9D14-7438-40AE-526ADC541990}"/>
              </a:ext>
            </a:extLst>
          </p:cNvPr>
          <p:cNvSpPr txBox="1"/>
          <p:nvPr/>
        </p:nvSpPr>
        <p:spPr>
          <a:xfrm>
            <a:off x="1383030" y="5007171"/>
            <a:ext cx="64350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Diagnostic Report</a:t>
            </a:r>
            <a:r>
              <a:rPr lang="en-US" sz="1600" dirty="0"/>
              <a:t>: runs some basic checks for data format and validity: discrete values of the same categories, continuous values range, unique and non-null IDs (</a:t>
            </a:r>
            <a:r>
              <a:rPr lang="en-US" sz="1600" i="1" dirty="0"/>
              <a:t>Validity</a:t>
            </a:r>
            <a:r>
              <a:rPr lang="en-US" sz="1600" dirty="0"/>
              <a:t>); same column names (</a:t>
            </a:r>
            <a:r>
              <a:rPr lang="en-US" sz="1600" i="1" dirty="0"/>
              <a:t>Structure</a:t>
            </a:r>
            <a:r>
              <a:rPr lang="en-US" sz="1600" dirty="0"/>
              <a:t>)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DD62431-7947-D162-9B66-153D72C0B939}"/>
              </a:ext>
            </a:extLst>
          </p:cNvPr>
          <p:cNvSpPr txBox="1"/>
          <p:nvPr/>
        </p:nvSpPr>
        <p:spPr>
          <a:xfrm>
            <a:off x="8200556" y="5161060"/>
            <a:ext cx="278138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050"/>
                </a:solidFill>
              </a:rPr>
              <a:t> </a:t>
            </a:r>
            <a:r>
              <a:rPr lang="en-US" sz="1600" dirty="0">
                <a:solidFill>
                  <a:schemeClr val="accent2"/>
                </a:solidFill>
              </a:rPr>
              <a:t>Data Validity Score: 100.0%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accent2"/>
                </a:solidFill>
              </a:rPr>
              <a:t> Data Structure Score: 100.0%</a:t>
            </a:r>
          </a:p>
        </p:txBody>
      </p:sp>
    </p:spTree>
    <p:extLst>
      <p:ext uri="{BB962C8B-B14F-4D97-AF65-F5344CB8AC3E}">
        <p14:creationId xmlns:p14="http://schemas.microsoft.com/office/powerpoint/2010/main" val="343941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2473F228-253A-A813-117A-2871D0260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810422"/>
            <a:ext cx="10058400" cy="19353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it-IT" sz="1800" dirty="0"/>
              <a:t> </a:t>
            </a:r>
            <a:r>
              <a:rPr lang="it-IT" sz="1800" b="1" dirty="0"/>
              <a:t>Quality Report</a:t>
            </a:r>
            <a:r>
              <a:rPr lang="it-IT" sz="1800" dirty="0"/>
              <a:t>: </a:t>
            </a:r>
            <a:r>
              <a:rPr lang="en-US" sz="1800" dirty="0"/>
              <a:t>checks for </a:t>
            </a:r>
            <a:r>
              <a:rPr lang="en-US" sz="1800" b="1" dirty="0">
                <a:solidFill>
                  <a:schemeClr val="accent2"/>
                </a:solidFill>
              </a:rPr>
              <a:t>statistical similarity </a:t>
            </a:r>
            <a:r>
              <a:rPr lang="en-US" sz="1800" dirty="0"/>
              <a:t>between the real and the synthetic data.</a:t>
            </a:r>
          </a:p>
          <a:p>
            <a:pPr marL="0" indent="0">
              <a:buNone/>
            </a:pPr>
            <a:r>
              <a:rPr lang="en-US" sz="1800" dirty="0"/>
              <a:t> Returns: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 </a:t>
            </a:r>
            <a:r>
              <a:rPr lang="en-US" sz="1800" b="1" dirty="0"/>
              <a:t>Columns Shapes</a:t>
            </a:r>
            <a:r>
              <a:rPr lang="en-US" sz="1800" dirty="0"/>
              <a:t>: statistical similarity for single columns (</a:t>
            </a:r>
            <a:r>
              <a:rPr lang="en-US" sz="1800" i="1" dirty="0"/>
              <a:t>KL Complement = 1-KS </a:t>
            </a:r>
            <a:r>
              <a:rPr lang="en-US" sz="1800" dirty="0"/>
              <a:t>for numerical columns, </a:t>
            </a:r>
            <a:r>
              <a:rPr lang="en-US" sz="1800" i="1" dirty="0"/>
              <a:t>TV Complement= 1-TV  </a:t>
            </a:r>
            <a:r>
              <a:rPr lang="en-US" sz="1800" dirty="0"/>
              <a:t>for categorical);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 </a:t>
            </a:r>
            <a:r>
              <a:rPr lang="en-US" sz="1800" b="1" dirty="0"/>
              <a:t>Column Pair Trend</a:t>
            </a:r>
            <a:r>
              <a:rPr lang="en-US" sz="1800" dirty="0"/>
              <a:t>: statistical similarity for pairs of columns (</a:t>
            </a:r>
            <a:r>
              <a:rPr lang="en-US" sz="1800" i="1" dirty="0"/>
              <a:t>correlation</a:t>
            </a:r>
            <a:r>
              <a:rPr lang="en-US" sz="1800" dirty="0"/>
              <a:t>)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ED2AFD7-9D0C-140A-2CAF-64987B3B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15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F785CE1-051A-7047-0740-8AFAA5C3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+mn-lt"/>
              </a:rPr>
              <a:t>Data Quality </a:t>
            </a:r>
            <a:r>
              <a:rPr lang="it-IT" dirty="0" err="1">
                <a:latin typeface="+mn-lt"/>
              </a:rPr>
              <a:t>metrics</a:t>
            </a:r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096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5A25-34EB-9E9D-102E-D91719EA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59799FF-C15D-D13D-6BDE-3679DD467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16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25754B85-1D3A-9E01-AE42-497377721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+mn-lt"/>
              </a:rPr>
              <a:t>Privacy </a:t>
            </a:r>
            <a:r>
              <a:rPr lang="it-IT" dirty="0" err="1">
                <a:latin typeface="+mn-lt"/>
              </a:rPr>
              <a:t>metrics</a:t>
            </a:r>
            <a:r>
              <a:rPr lang="it-IT" dirty="0">
                <a:latin typeface="+mn-lt"/>
              </a:rPr>
              <a:t> in SDV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ABE7D28D-1F28-2E12-7782-5675C446D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58" y="1924734"/>
            <a:ext cx="9265928" cy="5131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it-IT" dirty="0"/>
              <a:t> </a:t>
            </a:r>
            <a:r>
              <a:rPr lang="it-IT" sz="1600" b="1" dirty="0" err="1"/>
              <a:t>Dislosure</a:t>
            </a:r>
            <a:r>
              <a:rPr lang="it-IT" sz="1600" b="1" dirty="0"/>
              <a:t> </a:t>
            </a:r>
            <a:r>
              <a:rPr lang="it-IT" sz="1600" b="1" dirty="0" err="1"/>
              <a:t>Protection</a:t>
            </a:r>
            <a:r>
              <a:rPr lang="it-IT" sz="1600" dirty="0"/>
              <a:t>:</a:t>
            </a:r>
            <a:r>
              <a:rPr lang="en-US" sz="1600" dirty="0"/>
              <a:t> measures the risk associated with disclosing sensitive information in the synthetic</a:t>
            </a:r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3C7C286-1EE3-4CA2-3AF7-4E66DE6E8F29}"/>
              </a:ext>
            </a:extLst>
          </p:cNvPr>
          <p:cNvSpPr txBox="1"/>
          <p:nvPr/>
        </p:nvSpPr>
        <p:spPr>
          <a:xfrm>
            <a:off x="975358" y="2477116"/>
            <a:ext cx="5694216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attack scenario</a:t>
            </a:r>
            <a:r>
              <a:rPr lang="en-US" sz="1600" dirty="0"/>
              <a:t>: </a:t>
            </a:r>
          </a:p>
          <a:p>
            <a:pPr marL="0" indent="0" algn="ctr">
              <a:buNone/>
            </a:pPr>
            <a:r>
              <a:rPr lang="en-US" sz="1600" dirty="0"/>
              <a:t>If an attacker has prior knowledge about certain attributes (e.g. a person's age and gender) </a:t>
            </a:r>
            <a:r>
              <a:rPr lang="en-US" sz="1600" i="1" dirty="0"/>
              <a:t>and</a:t>
            </a:r>
            <a:r>
              <a:rPr lang="en-US" sz="1600" dirty="0"/>
              <a:t> access to the full synthetic data, would he/she be able to make better guesses about what they don't know (sensitive information)?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5BAA03A-1C09-BBF8-8421-E81453A5E65D}"/>
              </a:ext>
            </a:extLst>
          </p:cNvPr>
          <p:cNvSpPr txBox="1"/>
          <p:nvPr/>
        </p:nvSpPr>
        <p:spPr>
          <a:xfrm>
            <a:off x="975358" y="4055970"/>
            <a:ext cx="56942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0" i="0" dirty="0">
                <a:solidFill>
                  <a:srgbClr val="1C1D1E"/>
                </a:solidFill>
                <a:effectLst/>
              </a:rPr>
              <a:t>This metric simulates the attack scenario using real and synthetic data. It describes how much your synthetic data protects against the risk of disclosure </a:t>
            </a:r>
            <a:r>
              <a:rPr lang="en-US" sz="1600" b="1" i="0" dirty="0">
                <a:solidFill>
                  <a:schemeClr val="accent2"/>
                </a:solidFill>
                <a:effectLst/>
              </a:rPr>
              <a:t>as compared to a baseline of completely random data</a:t>
            </a:r>
            <a:r>
              <a:rPr lang="en-US" sz="1600" b="0" i="0" dirty="0">
                <a:solidFill>
                  <a:srgbClr val="1C1D1E"/>
                </a:solidFill>
                <a:effectLst/>
              </a:rPr>
              <a:t>.</a:t>
            </a:r>
            <a:endParaRPr lang="it-IT" sz="16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D05CD8-0C04-0C86-BCDC-E54D51623076}"/>
              </a:ext>
            </a:extLst>
          </p:cNvPr>
          <p:cNvSpPr txBox="1"/>
          <p:nvPr/>
        </p:nvSpPr>
        <p:spPr>
          <a:xfrm>
            <a:off x="975358" y="5301091"/>
            <a:ext cx="5814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q"/>
              <a:defRPr sz="1600" b="0" i="0">
                <a:solidFill>
                  <a:srgbClr val="1C1D1E"/>
                </a:solidFill>
                <a:effectLst/>
              </a:defRPr>
            </a:lvl1pPr>
          </a:lstStyle>
          <a:p>
            <a:pPr algn="just"/>
            <a:r>
              <a:rPr lang="en-US" dirty="0"/>
              <a:t>The baseline protection is higher if there are more possible values to guess from, because there is a lower probability of randomly getting it right.</a:t>
            </a: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4FCAFF0-47C2-DD40-ED4C-9F4124818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61" r="6308"/>
          <a:stretch>
            <a:fillRect/>
          </a:stretch>
        </p:blipFill>
        <p:spPr>
          <a:xfrm>
            <a:off x="7260342" y="5460832"/>
            <a:ext cx="3081522" cy="780309"/>
          </a:xfrm>
          <a:prstGeom prst="rect">
            <a:avLst/>
          </a:prstGeom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3061F2EF-2179-441E-DBD6-1D6F76340C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5" r="24401"/>
          <a:stretch>
            <a:fillRect/>
          </a:stretch>
        </p:blipFill>
        <p:spPr bwMode="auto">
          <a:xfrm>
            <a:off x="7406640" y="2445722"/>
            <a:ext cx="4189750" cy="285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3750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trospettivo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6B9F25"/>
    </a:hlink>
    <a:folHlink>
      <a:srgbClr val="B26B02"/>
    </a:folHlink>
  </a:clrScheme>
</a:themeOverride>
</file>

<file path=docMetadata/LabelInfo.xml><?xml version="1.0" encoding="utf-8"?>
<clbl:labelList xmlns:clbl="http://schemas.microsoft.com/office/2020/mipLabelMetadata">
  <clbl:label id="{cf30c7fd-6616-4b62-ad83-b574b27d5912}" enabled="0" method="" siteId="{cf30c7fd-6616-4b62-ad83-b574b27d59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1596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Segoe UI</vt:lpstr>
      <vt:lpstr>source-serif-pro</vt:lpstr>
      <vt:lpstr>Wingdings</vt:lpstr>
      <vt:lpstr>Retrospettivo</vt:lpstr>
      <vt:lpstr>Personalizza struttura</vt:lpstr>
      <vt:lpstr>Presentazione standard di PowerPoint</vt:lpstr>
      <vt:lpstr>Real-world data</vt:lpstr>
      <vt:lpstr>Dati sintetici</vt:lpstr>
      <vt:lpstr>Tecniche di generazione</vt:lpstr>
      <vt:lpstr>GANs</vt:lpstr>
      <vt:lpstr>GANs</vt:lpstr>
      <vt:lpstr>GANs</vt:lpstr>
      <vt:lpstr>GANs</vt:lpstr>
      <vt:lpstr>CTGAN</vt:lpstr>
      <vt:lpstr>CTGAN</vt:lpstr>
      <vt:lpstr>CTGAN</vt:lpstr>
      <vt:lpstr>Disclosure risk (Privacy metrics)</vt:lpstr>
      <vt:lpstr>Disclosure risk (Privacy metrics)</vt:lpstr>
      <vt:lpstr>Disclosure risk (Privacy metrics)</vt:lpstr>
      <vt:lpstr>SDV (Synthetic Data Vault)</vt:lpstr>
      <vt:lpstr>Data Quality metrics</vt:lpstr>
      <vt:lpstr>Privacy metrics in SDV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Stendardo Giorgia</dc:creator>
  <cp:lastModifiedBy>Stendardo Giorgia</cp:lastModifiedBy>
  <cp:revision>79</cp:revision>
  <dcterms:created xsi:type="dcterms:W3CDTF">2025-06-04T12:47:38Z</dcterms:created>
  <dcterms:modified xsi:type="dcterms:W3CDTF">2025-11-27T15:01:50Z</dcterms:modified>
</cp:coreProperties>
</file>